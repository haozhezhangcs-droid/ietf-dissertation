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4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handoutMasterIdLst>
    <p:handoutMasterId r:id="rId31"/>
  </p:handoutMasterIdLst>
  <p:sldIdLst>
    <p:sldId id="256" r:id="rId3"/>
    <p:sldId id="257" r:id="rId4"/>
    <p:sldId id="287" r:id="rId5"/>
    <p:sldId id="288" r:id="rId6"/>
    <p:sldId id="289" r:id="rId7"/>
    <p:sldId id="290" r:id="rId8"/>
    <p:sldId id="291" r:id="rId9"/>
    <p:sldId id="293" r:id="rId10"/>
    <p:sldId id="282" r:id="rId11"/>
    <p:sldId id="258" r:id="rId12"/>
    <p:sldId id="270" r:id="rId13"/>
    <p:sldId id="271" r:id="rId14"/>
    <p:sldId id="259" r:id="rId15"/>
    <p:sldId id="260" r:id="rId16"/>
    <p:sldId id="261" r:id="rId17"/>
    <p:sldId id="262" r:id="rId18"/>
    <p:sldId id="263" r:id="rId19"/>
    <p:sldId id="264" r:id="rId20"/>
    <p:sldId id="272" r:id="rId21"/>
    <p:sldId id="275" r:id="rId22"/>
    <p:sldId id="266" r:id="rId23"/>
    <p:sldId id="273" r:id="rId24"/>
    <p:sldId id="268" r:id="rId25"/>
    <p:sldId id="274" r:id="rId26"/>
    <p:sldId id="267" r:id="rId27"/>
    <p:sldId id="280" r:id="rId28"/>
    <p:sldId id="26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customXml" Target="../customXml/item1.xml"/><Relationship Id="rId35" Type="http://schemas.openxmlformats.org/officeDocument/2006/relationships/customXmlProps" Target="../customXml/itemProps144.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8.xml"/><Relationship Id="rId3" Type="http://schemas.openxmlformats.org/officeDocument/2006/relationships/image" Target="../media/image1.png"/><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130.xml"/><Relationship Id="rId1" Type="http://schemas.openxmlformats.org/officeDocument/2006/relationships/tags" Target="../tags/tag129.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7.xml"/><Relationship Id="rId3" Type="http://schemas.openxmlformats.org/officeDocument/2006/relationships/image" Target="../media/image4.png"/><Relationship Id="rId2" Type="http://schemas.openxmlformats.org/officeDocument/2006/relationships/tags" Target="../tags/tag136.xml"/><Relationship Id="rId1" Type="http://schemas.openxmlformats.org/officeDocument/2006/relationships/tags" Target="../tags/tag135.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0.xml"/><Relationship Id="rId3" Type="http://schemas.openxmlformats.org/officeDocument/2006/relationships/image" Target="../media/image5.png"/><Relationship Id="rId2" Type="http://schemas.openxmlformats.org/officeDocument/2006/relationships/tags" Target="../tags/tag139.xml"/><Relationship Id="rId1" Type="http://schemas.openxmlformats.org/officeDocument/2006/relationships/tags" Target="../tags/tag138.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fontScale="90000"/>
          </a:bodyPr>
          <a:p>
            <a:r>
              <a:rPr lang="en-US" altLang="zh-CN"/>
              <a:t> Who is Effective at Developing Internet Standards?</a:t>
            </a:r>
            <a:endParaRPr lang="en-US"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Aim</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this project will explore what organisations and countries are effective at developing technical standards for the Internet.</a:t>
            </a:r>
            <a:endParaRPr lang="en-US" altLang="zh-CN"/>
          </a:p>
          <a:p>
            <a:r>
              <a:rPr lang="en-US" altLang="zh-CN"/>
              <a:t>Goal:will be to look at the history of the documents eventually published as standards-track RFCs to understand how long they took to develop, who was involved in their development, how the various participants in the process interacted, and whether there were any roadblocks or significant problems in the development of the standards.</a:t>
            </a:r>
            <a:endParaRPr lang="en-US" altLang="zh-CN"/>
          </a:p>
          <a:p>
            <a:r>
              <a:rPr lang="en-US" altLang="zh-CN"/>
              <a:t>Eventual aim: to understand who is effective at developing Internet standards. Is Google better at standards development than Apple? Is Cisco more effective than Huawei? Are China and India, for example, becoming more effective at developing Internet-related standards over time?</a:t>
            </a:r>
            <a:endParaRPr lang="en-US" altLang="zh-CN"/>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Main Research Question</a:t>
            </a:r>
            <a:endParaRPr lang="en-US" altLang="zh-CN"/>
          </a:p>
        </p:txBody>
      </p:sp>
      <p:sp>
        <p:nvSpPr>
          <p:cNvPr id="3" name="内容占位符 2"/>
          <p:cNvSpPr>
            <a:spLocks noGrp="1"/>
          </p:cNvSpPr>
          <p:nvPr>
            <p:ph idx="1"/>
            <p:custDataLst>
              <p:tags r:id="rId2"/>
            </p:custDataLst>
          </p:nvPr>
        </p:nvSpPr>
        <p:spPr/>
        <p:txBody>
          <a:bodyPr/>
          <a:p>
            <a:r>
              <a:rPr lang="en-US" altLang="zh-CN"/>
              <a:t>How do organisations contribute to and influence Internet standardisation within the IETF?</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Question 1</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Which organisations participate most actively in Internet standardisation?</a:t>
            </a:r>
            <a:endParaRPr lang="en-US" altLang="zh-CN"/>
          </a:p>
          <a:p>
            <a:r>
              <a:rPr lang="en-US" altLang="zh-CN"/>
              <a:t>Why is it interesting?</a:t>
            </a:r>
            <a:endParaRPr lang="en-US" altLang="zh-CN"/>
          </a:p>
          <a:p>
            <a:endParaRPr lang="en-US" altLang="zh-CN"/>
          </a:p>
          <a:p>
            <a:r>
              <a:rPr lang="zh-CN" altLang="en-US"/>
              <a:t>谁真正提交</a:t>
            </a:r>
            <a:r>
              <a:rPr lang="en-US" altLang="zh-CN"/>
              <a:t>Draft、</a:t>
            </a:r>
            <a:endParaRPr lang="en-US" altLang="zh-CN"/>
          </a:p>
          <a:p>
            <a:r>
              <a:rPr lang="zh-CN" altLang="en-US"/>
              <a:t>谁真正参与</a:t>
            </a:r>
            <a:r>
              <a:rPr lang="en-US" altLang="zh-CN"/>
              <a:t>Working Group。</a:t>
            </a:r>
            <a:endParaRPr lang="en-US" altLang="zh-CN"/>
          </a:p>
          <a:p>
            <a:endParaRPr lang="en-US" altLang="zh-CN"/>
          </a:p>
          <a:p>
            <a:r>
              <a:rPr lang="en-US" altLang="zh-CN"/>
              <a:t>Which Chinese companies?</a:t>
            </a:r>
            <a:endParaRPr lang="en-US" altLang="zh-CN"/>
          </a:p>
          <a:p>
            <a:r>
              <a:rPr lang="en-US" altLang="zh-CN"/>
              <a:t>Which US companies?</a:t>
            </a:r>
            <a:endParaRPr lang="en-US" altLang="zh-CN"/>
          </a:p>
          <a:p>
            <a:r>
              <a:rPr lang="en-US" altLang="zh-CN"/>
              <a:t>Which universities?</a:t>
            </a:r>
            <a:endParaRPr lang="en-US" altLang="zh-CN"/>
          </a:p>
          <a:p>
            <a:r>
              <a:rPr lang="en-US" altLang="zh-CN"/>
              <a:t>Which governments?</a:t>
            </a:r>
            <a:endParaRPr lang="en-US" altLang="zh-CN"/>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Question 2</a:t>
            </a:r>
            <a:endParaRPr lang="en-US" altLang="zh-CN"/>
          </a:p>
        </p:txBody>
      </p:sp>
      <p:sp>
        <p:nvSpPr>
          <p:cNvPr id="3" name="内容占位符 2"/>
          <p:cNvSpPr>
            <a:spLocks noGrp="1"/>
          </p:cNvSpPr>
          <p:nvPr>
            <p:ph idx="1"/>
            <p:custDataLst>
              <p:tags r:id="rId2"/>
            </p:custDataLst>
          </p:nvPr>
        </p:nvSpPr>
        <p:spPr/>
        <p:txBody>
          <a:bodyPr/>
          <a:p>
            <a:r>
              <a:rPr lang="en-US" altLang="zh-CN"/>
              <a:t>Which organisations are most successful in converting Internet-Drafts into RFCs?</a:t>
            </a:r>
            <a:endParaRPr lang="en-US" altLang="zh-CN"/>
          </a:p>
          <a:p>
            <a:endParaRPr lang="en-US" altLang="zh-CN"/>
          </a:p>
          <a:p>
            <a:r>
              <a:rPr lang="en-US" altLang="zh-CN"/>
              <a:t>Security</a:t>
            </a:r>
            <a:endParaRPr lang="en-US" altLang="zh-CN"/>
          </a:p>
          <a:p>
            <a:r>
              <a:rPr lang="en-US" altLang="zh-CN"/>
              <a:t>Routing</a:t>
            </a:r>
            <a:endParaRPr lang="en-US" altLang="zh-CN"/>
          </a:p>
          <a:p>
            <a:r>
              <a:rPr lang="en-US" altLang="zh-CN"/>
              <a:t>Transport</a:t>
            </a:r>
            <a:endParaRPr lang="en-US" altLang="zh-CN"/>
          </a:p>
          <a:p>
            <a:r>
              <a:rPr lang="en-US" altLang="zh-CN"/>
              <a:t>Applications</a:t>
            </a:r>
            <a:endParaRPr lang="en-US" altLang="zh-CN"/>
          </a:p>
          <a:p>
            <a:endParaRPr lang="en-US" altLang="zh-CN"/>
          </a:p>
          <a:p>
            <a:r>
              <a:rPr lang="en-US" altLang="zh-CN"/>
              <a:t>Maybe Huawei is good at Routing but not good at Security.</a:t>
            </a:r>
            <a:endParaRPr lang="en-US" altLang="zh-CN"/>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Question 3</a:t>
            </a:r>
            <a:endParaRPr lang="en-US" altLang="zh-CN"/>
          </a:p>
        </p:txBody>
      </p:sp>
      <p:sp>
        <p:nvSpPr>
          <p:cNvPr id="3" name="内容占位符 2"/>
          <p:cNvSpPr>
            <a:spLocks noGrp="1"/>
          </p:cNvSpPr>
          <p:nvPr>
            <p:ph idx="1"/>
            <p:custDataLst>
              <p:tags r:id="rId2"/>
            </p:custDataLst>
          </p:nvPr>
        </p:nvSpPr>
        <p:spPr/>
        <p:txBody>
          <a:bodyPr>
            <a:normAutofit fontScale="60000"/>
          </a:bodyPr>
          <a:p>
            <a:r>
              <a:rPr lang="en-US" altLang="zh-CN"/>
              <a:t>How have organisational participation and effectiveness changed over time?</a:t>
            </a:r>
            <a:endParaRPr lang="en-US" altLang="zh-CN"/>
          </a:p>
          <a:p>
            <a:r>
              <a:rPr lang="en-US" altLang="zh-CN"/>
              <a:t>2000–2004</a:t>
            </a:r>
            <a:endParaRPr lang="en-US" altLang="zh-CN"/>
          </a:p>
          <a:p>
            <a:r>
              <a:rPr lang="en-US" altLang="zh-CN"/>
              <a:t>2005–2009</a:t>
            </a:r>
            <a:endParaRPr lang="en-US" altLang="zh-CN"/>
          </a:p>
          <a:p>
            <a:r>
              <a:rPr lang="en-US" altLang="zh-CN"/>
              <a:t>2010–2014</a:t>
            </a:r>
            <a:endParaRPr lang="en-US" altLang="zh-CN"/>
          </a:p>
          <a:p>
            <a:r>
              <a:rPr lang="en-US" altLang="zh-CN"/>
              <a:t>2015–2019</a:t>
            </a:r>
            <a:endParaRPr lang="en-US" altLang="zh-CN"/>
          </a:p>
          <a:p>
            <a:r>
              <a:rPr lang="en-US" altLang="zh-CN"/>
              <a:t>2020–2025</a:t>
            </a:r>
            <a:endParaRPr lang="en-US" altLang="zh-CN"/>
          </a:p>
          <a:p>
            <a:r>
              <a:rPr lang="zh-CN" altLang="en-US"/>
              <a:t>每个阶段：</a:t>
            </a:r>
            <a:endParaRPr lang="en-US" altLang="zh-CN"/>
          </a:p>
          <a:p>
            <a:r>
              <a:rPr lang="en-US" altLang="zh-CN"/>
              <a:t>Draft</a:t>
            </a:r>
            <a:endParaRPr lang="en-US" altLang="zh-CN"/>
          </a:p>
          <a:p>
            <a:r>
              <a:rPr lang="en-US" altLang="zh-CN"/>
              <a:t>RFC</a:t>
            </a:r>
            <a:endParaRPr lang="en-US" altLang="zh-CN"/>
          </a:p>
          <a:p>
            <a:r>
              <a:rPr lang="en-US" altLang="zh-CN"/>
              <a:t>Success Rate</a:t>
            </a:r>
            <a:endParaRPr lang="en-US" altLang="zh-CN"/>
          </a:p>
          <a:p>
            <a:r>
              <a:rPr lang="zh-CN" altLang="en-US"/>
              <a:t>作者人数</a:t>
            </a:r>
            <a:endParaRPr lang="en-US" altLang="zh-CN"/>
          </a:p>
          <a:p>
            <a:r>
              <a:rPr lang="zh-CN" altLang="en-US"/>
              <a:t>国家变化</a:t>
            </a:r>
            <a:endParaRPr lang="en-US" altLang="zh-CN"/>
          </a:p>
          <a:p>
            <a:r>
              <a:rPr lang="zh-CN" altLang="en-US"/>
              <a:t>组织变化</a:t>
            </a:r>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Question 4（Case Study）</a:t>
            </a:r>
            <a:endParaRPr lang="en-US" altLang="zh-CN"/>
          </a:p>
        </p:txBody>
      </p:sp>
      <p:sp>
        <p:nvSpPr>
          <p:cNvPr id="3" name="内容占位符 2"/>
          <p:cNvSpPr>
            <a:spLocks noGrp="1"/>
          </p:cNvSpPr>
          <p:nvPr>
            <p:ph idx="1"/>
            <p:custDataLst>
              <p:tags r:id="rId2"/>
            </p:custDataLst>
          </p:nvPr>
        </p:nvSpPr>
        <p:spPr/>
        <p:txBody>
          <a:bodyPr/>
          <a:p>
            <a:r>
              <a:rPr lang="en-US" altLang="zh-CN"/>
              <a:t>How did the 2019 U.S. Entity List change Huawei's </a:t>
            </a:r>
            <a:r>
              <a:rPr lang="en-US" altLang="zh-CN" b="1"/>
              <a:t>participation</a:t>
            </a:r>
            <a:r>
              <a:rPr lang="en-US" altLang="zh-CN"/>
              <a:t> and </a:t>
            </a:r>
            <a:r>
              <a:rPr lang="en-US" altLang="zh-CN" b="1"/>
              <a:t>collaboration </a:t>
            </a:r>
            <a:r>
              <a:rPr lang="en-US" altLang="zh-CN"/>
              <a:t>within the IETF?</a:t>
            </a:r>
            <a:endParaRPr lang="en-US" altLang="zh-CN"/>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Methodology</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Stage1:</a:t>
            </a:r>
            <a:endParaRPr lang="en-US" altLang="zh-CN"/>
          </a:p>
          <a:p>
            <a:r>
              <a:rPr lang="en-US" altLang="zh-CN"/>
              <a:t>Dataracker - Draft - RFC - Author - Organisation</a:t>
            </a:r>
            <a:endParaRPr lang="en-US" altLang="zh-CN"/>
          </a:p>
          <a:p>
            <a:endParaRPr lang="en-US" altLang="zh-CN"/>
          </a:p>
          <a:p>
            <a:r>
              <a:rPr lang="en-US" altLang="zh-CN"/>
              <a:t>Stage2: </a:t>
            </a:r>
            <a:endParaRPr lang="en-US" altLang="zh-CN"/>
          </a:p>
          <a:p>
            <a:r>
              <a:rPr lang="en-US" altLang="zh-CN"/>
              <a:t>join Meeting Attendance</a:t>
            </a:r>
            <a:endParaRPr lang="en-US" altLang="zh-CN"/>
          </a:p>
          <a:p>
            <a:r>
              <a:rPr lang="zh-CN" altLang="en-US"/>
              <a:t>哪些组织：真正参加会议。</a:t>
            </a:r>
            <a:endParaRPr lang="zh-CN" altLang="en-US"/>
          </a:p>
          <a:p>
            <a:endParaRPr lang="zh-CN" altLang="en-US"/>
          </a:p>
          <a:p>
            <a:r>
              <a:rPr lang="en-US" altLang="zh-CN"/>
              <a:t>Stage3:</a:t>
            </a:r>
            <a:endParaRPr lang="en-US" altLang="zh-CN"/>
          </a:p>
          <a:p>
            <a:r>
              <a:rPr lang="en-US" altLang="zh-CN"/>
              <a:t>join Mailing list</a:t>
            </a:r>
            <a:endParaRPr lang="en-US" altLang="zh-CN"/>
          </a:p>
          <a:p>
            <a:r>
              <a:rPr lang="en-US" altLang="zh-CN"/>
              <a:t>Analyse who command draft,push draft ,infl</a:t>
            </a:r>
            <a:r>
              <a:rPr lang="en-US" altLang="zh-CN"/>
              <a:t>uence RFC</a:t>
            </a:r>
            <a:endParaRPr lang="en-US" altLang="zh-CN"/>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Sub Question</a:t>
            </a:r>
            <a:endParaRPr lang="en-US" altLang="zh-CN"/>
          </a:p>
        </p:txBody>
      </p:sp>
      <p:sp>
        <p:nvSpPr>
          <p:cNvPr id="3" name="内容占位符 2"/>
          <p:cNvSpPr>
            <a:spLocks noGrp="1"/>
          </p:cNvSpPr>
          <p:nvPr>
            <p:ph idx="1"/>
            <p:custDataLst>
              <p:tags r:id="rId2"/>
            </p:custDataLst>
          </p:nvPr>
        </p:nvSpPr>
        <p:spPr/>
        <p:txBody>
          <a:bodyPr>
            <a:normAutofit/>
          </a:bodyPr>
          <a:p>
            <a:r>
              <a:rPr lang="en-US" altLang="zh-CN"/>
              <a:t>Which organisations participate the most?</a:t>
            </a:r>
            <a:endParaRPr lang="en-US" altLang="zh-CN"/>
          </a:p>
          <a:p>
            <a:r>
              <a:rPr lang="en-US" altLang="zh-CN"/>
              <a:t>Which organisations are most successful in converting Internet-Drafts into RFCs?</a:t>
            </a:r>
            <a:endParaRPr lang="en-US" altLang="zh-CN"/>
          </a:p>
          <a:p>
            <a:r>
              <a:rPr lang="en-US" altLang="zh-CN"/>
              <a:t>How have organisational participation and success changed over time?</a:t>
            </a:r>
            <a:endParaRPr lang="en-US" altLang="zh-CN"/>
          </a:p>
          <a:p>
            <a:r>
              <a:rPr lang="en-US" altLang="zh-CN"/>
              <a:t>Case Study: Changes in Huawei's Participation and Organisational Effectiveness Before and After the 2019 U.S. Entity List</a:t>
            </a:r>
            <a:endParaRPr lang="en-US" altLang="zh-CN"/>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IETF</a:t>
            </a:r>
            <a:endParaRPr lang="en-US" altLang="zh-CN"/>
          </a:p>
        </p:txBody>
      </p:sp>
      <p:sp>
        <p:nvSpPr>
          <p:cNvPr id="3" name="内容占位符 2"/>
          <p:cNvSpPr>
            <a:spLocks noGrp="1"/>
          </p:cNvSpPr>
          <p:nvPr>
            <p:ph idx="1"/>
            <p:custDataLst>
              <p:tags r:id="rId2"/>
            </p:custDataLst>
          </p:nvPr>
        </p:nvSpPr>
        <p:spPr/>
        <p:txBody>
          <a:bodyPr/>
          <a:p>
            <a:pPr marL="0" indent="0">
              <a:buNone/>
            </a:pPr>
            <a:r>
              <a:rPr lang="en-US" altLang="zh-CN"/>
              <a:t>IETF is the organisation responsible for Internet standardisation.</a:t>
            </a:r>
            <a:endParaRPr lang="en-US" altLang="zh-CN"/>
          </a:p>
          <a:p>
            <a:pPr marL="0" indent="0">
              <a:buNone/>
            </a:pPr>
            <a:r>
              <a:rPr lang="en-US" altLang="zh-CN"/>
              <a:t>It provides Datatracker, historical archives, mailing lists and meeting records.</a:t>
            </a:r>
            <a:endParaRPr lang="en-US" altLang="zh-CN"/>
          </a:p>
          <a:p>
            <a:pPr marL="0" indent="0">
              <a:buNone/>
            </a:pPr>
            <a:r>
              <a:rPr lang="en-US" altLang="zh-CN"/>
              <a:t>Intention :  understand who proposes topics for Internet standardisation and how effective they are at getting their work accepted.</a:t>
            </a:r>
            <a:endParaRPr lang="en-US" altLang="zh-CN"/>
          </a:p>
          <a:p>
            <a:pPr marL="0" indent="0">
              <a:buNone/>
            </a:pPr>
            <a:endParaRPr lang="zh-CN"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Draft</a:t>
            </a:r>
            <a:r>
              <a:rPr lang="zh-CN" altLang="en-US"/>
              <a:t>、</a:t>
            </a:r>
            <a:r>
              <a:rPr lang="en-US" altLang="zh-CN"/>
              <a:t>RFC</a:t>
            </a:r>
            <a:endParaRPr lang="en-US" altLang="zh-CN"/>
          </a:p>
        </p:txBody>
      </p:sp>
      <p:sp>
        <p:nvSpPr>
          <p:cNvPr id="3" name="内容占位符 2"/>
          <p:cNvSpPr>
            <a:spLocks noGrp="1"/>
          </p:cNvSpPr>
          <p:nvPr>
            <p:ph idx="1"/>
            <p:custDataLst>
              <p:tags r:id="rId2"/>
            </p:custDataLst>
          </p:nvPr>
        </p:nvSpPr>
        <p:spPr/>
        <p:txBody>
          <a:bodyPr>
            <a:normAutofit/>
          </a:bodyPr>
          <a:p>
            <a:pPr marL="0" indent="0">
              <a:buNone/>
            </a:pPr>
            <a:r>
              <a:rPr lang="en-US" altLang="zh-CN">
                <a:sym typeface="+mn-ea"/>
              </a:rPr>
              <a:t>Draft </a:t>
            </a:r>
            <a:r>
              <a:rPr lang="zh-CN" altLang="en-US">
                <a:sym typeface="+mn-ea"/>
              </a:rPr>
              <a:t>是一个还在讨论中的标准草案。</a:t>
            </a:r>
            <a:endParaRPr lang="en-US" altLang="zh-CN"/>
          </a:p>
          <a:p>
            <a:pPr marL="0" indent="0">
              <a:buNone/>
            </a:pPr>
            <a:r>
              <a:rPr lang="zh-CN" altLang="en-US">
                <a:sym typeface="+mn-ea"/>
              </a:rPr>
              <a:t>例如某人写了一个新协议想法，先提交成：</a:t>
            </a:r>
            <a:endParaRPr lang="en-US" altLang="zh-CN"/>
          </a:p>
          <a:p>
            <a:pPr marL="0" indent="0">
              <a:buNone/>
            </a:pPr>
            <a:r>
              <a:rPr lang="en-US" altLang="zh-CN">
                <a:sym typeface="+mn-ea"/>
              </a:rPr>
              <a:t>Internet-Draft</a:t>
            </a:r>
            <a:endParaRPr lang="en-US" altLang="zh-CN"/>
          </a:p>
          <a:p>
            <a:pPr marL="0" indent="0">
              <a:buNone/>
            </a:pPr>
            <a:r>
              <a:rPr lang="zh-CN" altLang="en-US">
                <a:sym typeface="+mn-ea"/>
              </a:rPr>
              <a:t>大家在 </a:t>
            </a:r>
            <a:r>
              <a:rPr lang="en-US" altLang="zh-CN">
                <a:sym typeface="+mn-ea"/>
              </a:rPr>
              <a:t>IETF </a:t>
            </a:r>
            <a:r>
              <a:rPr lang="zh-CN" altLang="en-US">
                <a:sym typeface="+mn-ea"/>
              </a:rPr>
              <a:t>邮件列表、会议、</a:t>
            </a:r>
            <a:r>
              <a:rPr lang="en-US" altLang="zh-CN">
                <a:sym typeface="+mn-ea"/>
              </a:rPr>
              <a:t>GitHub </a:t>
            </a:r>
            <a:r>
              <a:rPr lang="zh-CN" altLang="en-US">
                <a:sym typeface="+mn-ea"/>
              </a:rPr>
              <a:t>上讨论、修改</a:t>
            </a:r>
            <a:endParaRPr lang="zh-CN" altLang="en-US">
              <a:sym typeface="+mn-ea"/>
            </a:endParaRPr>
          </a:p>
          <a:p>
            <a:pPr marL="0" indent="0">
              <a:buNone/>
            </a:pPr>
            <a:endParaRPr lang="zh-CN" altLang="en-US"/>
          </a:p>
          <a:p>
            <a:r>
              <a:rPr lang="zh-CN" altLang="en-US"/>
              <a:t>如果这个 </a:t>
            </a:r>
            <a:r>
              <a:rPr lang="en-US" altLang="zh-CN"/>
              <a:t>Draft </a:t>
            </a:r>
            <a:r>
              <a:rPr lang="zh-CN" altLang="en-US"/>
              <a:t>最后被接受、审核、发布，它就会变成：</a:t>
            </a:r>
            <a:endParaRPr lang="en-US" altLang="zh-CN"/>
          </a:p>
          <a:p>
            <a:r>
              <a:rPr lang="en-US" altLang="zh-CN"/>
              <a:t>RFC</a:t>
            </a:r>
            <a:endParaRPr lang="en-US" altLang="zh-CN"/>
          </a:p>
          <a:p>
            <a:r>
              <a:rPr lang="en-US" altLang="zh-CN"/>
              <a:t>RFC </a:t>
            </a:r>
            <a:r>
              <a:rPr lang="zh-CN" altLang="en-US"/>
              <a:t>可以理解为正式发布的互联网技术文档。有些 </a:t>
            </a:r>
            <a:r>
              <a:rPr lang="en-US" altLang="zh-CN"/>
              <a:t>RFC </a:t>
            </a:r>
            <a:r>
              <a:rPr lang="zh-CN" altLang="en-US"/>
              <a:t>是真正的标准，有些是信息性文档。</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这和 </a:t>
            </a:r>
            <a:r>
              <a:rPr lang="en-US" altLang="zh-CN">
                <a:sym typeface="+mn-ea"/>
              </a:rPr>
              <a:t>Huawei / Cisco / Google </a:t>
            </a:r>
            <a:r>
              <a:rPr lang="zh-CN" altLang="en-US">
                <a:sym typeface="+mn-ea"/>
              </a:rPr>
              <a:t>有什么关系？</a:t>
            </a:r>
            <a:endParaRPr lang="zh-CN" altLang="en-US"/>
          </a:p>
        </p:txBody>
      </p:sp>
      <p:sp>
        <p:nvSpPr>
          <p:cNvPr id="3" name="内容占位符 2"/>
          <p:cNvSpPr>
            <a:spLocks noGrp="1"/>
          </p:cNvSpPr>
          <p:nvPr>
            <p:ph idx="1"/>
            <p:custDataLst>
              <p:tags r:id="rId2"/>
            </p:custDataLst>
          </p:nvPr>
        </p:nvSpPr>
        <p:spPr/>
        <p:txBody>
          <a:bodyPr>
            <a:normAutofit fontScale="45000"/>
          </a:bodyPr>
          <a:p>
            <a:r>
              <a:rPr lang="en-US" altLang="zh-CN"/>
              <a:t>Draft </a:t>
            </a:r>
            <a:r>
              <a:rPr lang="zh-CN" altLang="en-US"/>
              <a:t>不是凭空出现的，它有作者。</a:t>
            </a:r>
            <a:endParaRPr lang="en-US" altLang="zh-CN"/>
          </a:p>
          <a:p>
            <a:r>
              <a:rPr lang="zh-CN" altLang="en-US"/>
              <a:t>作者通常有公司 </a:t>
            </a:r>
            <a:r>
              <a:rPr lang="en-US" altLang="zh-CN"/>
              <a:t>affiliation，</a:t>
            </a:r>
            <a:r>
              <a:rPr lang="zh-CN" altLang="en-US"/>
              <a:t>比如：</a:t>
            </a:r>
            <a:endParaRPr lang="en-US" altLang="zh-CN"/>
          </a:p>
          <a:p>
            <a:r>
              <a:rPr lang="en-US" altLang="zh-CN"/>
              <a:t>Author A — Huawei</a:t>
            </a:r>
            <a:endParaRPr lang="en-US" altLang="zh-CN"/>
          </a:p>
          <a:p>
            <a:r>
              <a:rPr lang="en-US" altLang="zh-CN"/>
              <a:t>Author B — Cisco</a:t>
            </a:r>
            <a:endParaRPr lang="en-US" altLang="zh-CN"/>
          </a:p>
          <a:p>
            <a:r>
              <a:rPr lang="en-US" altLang="zh-CN"/>
              <a:t>Author C — Google</a:t>
            </a:r>
            <a:endParaRPr lang="en-US" altLang="zh-CN"/>
          </a:p>
          <a:p>
            <a:r>
              <a:rPr lang="zh-CN" altLang="en-US"/>
              <a:t>所以如果一个 </a:t>
            </a:r>
            <a:r>
              <a:rPr lang="en-US" altLang="zh-CN"/>
              <a:t>Draft </a:t>
            </a:r>
            <a:r>
              <a:rPr lang="zh-CN" altLang="en-US"/>
              <a:t>最后变成 </a:t>
            </a:r>
            <a:r>
              <a:rPr lang="en-US" altLang="zh-CN"/>
              <a:t>RFC，</a:t>
            </a:r>
            <a:r>
              <a:rPr lang="zh-CN" altLang="en-US"/>
              <a:t>你可以说：</a:t>
            </a:r>
            <a:endParaRPr lang="en-US" altLang="zh-CN"/>
          </a:p>
          <a:p>
            <a:r>
              <a:rPr lang="zh-CN" altLang="en-US"/>
              <a:t>这个 </a:t>
            </a:r>
            <a:r>
              <a:rPr lang="en-US" altLang="zh-CN"/>
              <a:t>RFC </a:t>
            </a:r>
            <a:r>
              <a:rPr lang="zh-CN" altLang="en-US"/>
              <a:t>的作者来自 </a:t>
            </a:r>
            <a:r>
              <a:rPr lang="en-US" altLang="zh-CN"/>
              <a:t>Huawei / Cisco / Google</a:t>
            </a:r>
            <a:endParaRPr lang="en-US" altLang="zh-CN"/>
          </a:p>
          <a:p>
            <a:r>
              <a:rPr lang="zh-CN" altLang="en-US"/>
              <a:t>然后就可以统计：</a:t>
            </a:r>
            <a:endParaRPr lang="en-US" altLang="zh-CN"/>
          </a:p>
          <a:p>
            <a:r>
              <a:rPr lang="en-US" altLang="zh-CN"/>
              <a:t>Huawei </a:t>
            </a:r>
            <a:r>
              <a:rPr lang="zh-CN" altLang="en-US"/>
              <a:t>写了多少 </a:t>
            </a:r>
            <a:r>
              <a:rPr lang="en-US" altLang="zh-CN"/>
              <a:t>Draft？</a:t>
            </a:r>
            <a:endParaRPr lang="en-US" altLang="zh-CN"/>
          </a:p>
          <a:p>
            <a:r>
              <a:rPr lang="zh-CN" altLang="en-US"/>
              <a:t>其中多少变成 </a:t>
            </a:r>
            <a:r>
              <a:rPr lang="en-US" altLang="zh-CN"/>
              <a:t>RFC？</a:t>
            </a:r>
            <a:endParaRPr lang="en-US" altLang="zh-CN"/>
          </a:p>
          <a:p>
            <a:r>
              <a:rPr lang="en-US" altLang="zh-CN"/>
              <a:t>Cisco </a:t>
            </a:r>
            <a:r>
              <a:rPr lang="zh-CN" altLang="en-US"/>
              <a:t>写了多少 </a:t>
            </a:r>
            <a:r>
              <a:rPr lang="en-US" altLang="zh-CN"/>
              <a:t>Draft？</a:t>
            </a:r>
            <a:endParaRPr lang="en-US" altLang="zh-CN"/>
          </a:p>
          <a:p>
            <a:r>
              <a:rPr lang="zh-CN" altLang="en-US"/>
              <a:t>其中多少变成 </a:t>
            </a:r>
            <a:r>
              <a:rPr lang="en-US" altLang="zh-CN"/>
              <a:t>RFC？</a:t>
            </a:r>
            <a:endParaRPr lang="en-US" altLang="zh-CN"/>
          </a:p>
          <a:p>
            <a:r>
              <a:rPr lang="en-US" altLang="zh-CN"/>
              <a:t>Google </a:t>
            </a:r>
            <a:r>
              <a:rPr lang="zh-CN" altLang="en-US"/>
              <a:t>写了多少 </a:t>
            </a:r>
            <a:r>
              <a:rPr lang="en-US" altLang="zh-CN"/>
              <a:t>Draft？</a:t>
            </a:r>
            <a:endParaRPr lang="en-US" altLang="zh-CN"/>
          </a:p>
          <a:p>
            <a:r>
              <a:rPr lang="zh-CN" altLang="en-US"/>
              <a:t>其中多少变成 </a:t>
            </a:r>
            <a:r>
              <a:rPr lang="en-US" altLang="zh-CN"/>
              <a:t>RFC？</a:t>
            </a:r>
            <a:endParaRPr lang="en-US" altLang="zh-CN"/>
          </a:p>
          <a:p>
            <a:r>
              <a:rPr lang="zh-CN" altLang="en-US"/>
              <a:t>这就是你研究 </a:t>
            </a:r>
            <a:r>
              <a:rPr lang="en-US" altLang="zh-CN"/>
              <a:t>Huawei、Cisco、Google </a:t>
            </a:r>
            <a:r>
              <a:rPr lang="zh-CN" altLang="en-US"/>
              <a:t>的原因。</a:t>
            </a:r>
            <a:endParaRPr lang="zh-CN" altLang="en-US"/>
          </a:p>
        </p:txBody>
      </p:sp>
      <p:pic>
        <p:nvPicPr>
          <p:cNvPr id="4" name="E657119C-6982-421D-8BA7-E74DEB70A7D9-1" descr="wpp"/>
          <p:cNvPicPr>
            <a:picLocks noChangeAspect="1"/>
          </p:cNvPicPr>
          <p:nvPr/>
        </p:nvPicPr>
        <p:blipFill>
          <a:blip r:embed="rId3"/>
          <a:stretch>
            <a:fillRect/>
          </a:stretch>
        </p:blipFill>
        <p:spPr>
          <a:xfrm>
            <a:off x="4441825" y="1313815"/>
            <a:ext cx="6212840" cy="509079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Task</a:t>
            </a:r>
            <a:endParaRPr lang="en-US" altLang="zh-CN"/>
          </a:p>
        </p:txBody>
      </p:sp>
      <p:sp>
        <p:nvSpPr>
          <p:cNvPr id="3" name="内容占位符 2"/>
          <p:cNvSpPr>
            <a:spLocks noGrp="1"/>
          </p:cNvSpPr>
          <p:nvPr>
            <p:ph idx="1"/>
            <p:custDataLst>
              <p:tags r:id="rId2"/>
            </p:custDataLst>
          </p:nvPr>
        </p:nvSpPr>
        <p:spPr/>
        <p:txBody>
          <a:bodyPr/>
          <a:p>
            <a:r>
              <a:rPr lang="zh-CN" altLang="en-US"/>
              <a:t>1-4</a:t>
            </a:r>
            <a:r>
              <a:rPr lang="en-US" altLang="zh-CN"/>
              <a:t>week</a:t>
            </a:r>
            <a:r>
              <a:rPr lang="zh-CN" altLang="en-US"/>
              <a:t>：阅读文献、理解</a:t>
            </a:r>
            <a:r>
              <a:rPr lang="en-US" altLang="zh-CN"/>
              <a:t>IETF、</a:t>
            </a:r>
            <a:r>
              <a:rPr lang="zh-CN" altLang="en-US"/>
              <a:t>写</a:t>
            </a:r>
            <a:r>
              <a:rPr lang="en-US" altLang="zh-CN"/>
              <a:t>Literature Review、</a:t>
            </a:r>
            <a:r>
              <a:rPr lang="zh-CN" altLang="en-US"/>
              <a:t>写</a:t>
            </a:r>
            <a:r>
              <a:rPr lang="en-US" altLang="zh-CN"/>
              <a:t>Requirements</a:t>
            </a:r>
            <a:endParaRPr lang="en-US" altLang="zh-CN"/>
          </a:p>
          <a:p>
            <a:r>
              <a:rPr lang="en-US" altLang="zh-CN"/>
              <a:t>5-10</a:t>
            </a:r>
            <a:r>
              <a:rPr lang="en-US" altLang="zh-CN"/>
              <a:t>week：Coding+Data Analysis</a:t>
            </a:r>
            <a:endParaRPr lang="en-US" altLang="zh-CN"/>
          </a:p>
          <a:p>
            <a:r>
              <a:rPr lang="en-US" altLang="zh-CN"/>
              <a:t>final 2 weeks:</a:t>
            </a:r>
            <a:r>
              <a:rPr lang="zh-CN" altLang="en-US"/>
              <a:t>完成</a:t>
            </a:r>
            <a:r>
              <a:rPr lang="en-US" altLang="zh-CN"/>
              <a:t>Disseration</a:t>
            </a:r>
            <a:endParaRPr lang="en-US" altLang="zh-CN"/>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sym typeface="+mn-ea"/>
              </a:rPr>
              <a:t>一、谁参与了标准制定</a:t>
            </a:r>
            <a:r>
              <a:rPr lang="en-US" altLang="zh-CN"/>
              <a:t>Who participated in standard setting</a:t>
            </a:r>
            <a:endParaRPr lang="en-US" altLang="zh-CN"/>
          </a:p>
        </p:txBody>
      </p:sp>
      <p:sp>
        <p:nvSpPr>
          <p:cNvPr id="3" name="内容占位符 2"/>
          <p:cNvSpPr>
            <a:spLocks noGrp="1"/>
          </p:cNvSpPr>
          <p:nvPr>
            <p:ph idx="1"/>
            <p:custDataLst>
              <p:tags r:id="rId2"/>
            </p:custDataLst>
          </p:nvPr>
        </p:nvSpPr>
        <p:spPr/>
        <p:txBody>
          <a:bodyPr>
            <a:normAutofit fontScale="80000"/>
          </a:bodyPr>
          <a:p>
            <a:r>
              <a:rPr lang="zh-CN" altLang="en-US"/>
              <a:t>找出所有</a:t>
            </a:r>
            <a:r>
              <a:rPr lang="en-US" altLang="zh-CN"/>
              <a:t>Standards Documents（RFC）</a:t>
            </a:r>
            <a:endParaRPr lang="en-US" altLang="zh-CN"/>
          </a:p>
          <a:p>
            <a:r>
              <a:rPr lang="zh-CN" altLang="en-US"/>
              <a:t>谁写的？</a:t>
            </a:r>
            <a:endParaRPr lang="zh-CN" altLang="en-US"/>
          </a:p>
          <a:p>
            <a:r>
              <a:rPr lang="zh-CN" altLang="en-US"/>
              <a:t>作者来自哪个公司</a:t>
            </a:r>
            <a:endParaRPr lang="zh-CN" altLang="en-US"/>
          </a:p>
          <a:p>
            <a:r>
              <a:rPr lang="zh-CN" altLang="en-US"/>
              <a:t>作者来自哪个国家</a:t>
            </a:r>
            <a:endParaRPr lang="zh-CN" altLang="en-US"/>
          </a:p>
          <a:p>
            <a:r>
              <a:rPr lang="en-US" altLang="zh-CN"/>
              <a:t>RFC XXX</a:t>
            </a:r>
            <a:endParaRPr lang="en-US" altLang="zh-CN"/>
          </a:p>
          <a:p>
            <a:r>
              <a:rPr lang="en-US" altLang="zh-CN"/>
              <a:t>Author A ——Cisco ——USA </a:t>
            </a:r>
            <a:endParaRPr lang="en-US" altLang="zh-CN"/>
          </a:p>
          <a:p>
            <a:r>
              <a:rPr lang="zh-CN" altLang="en-US"/>
              <a:t>统计：</a:t>
            </a:r>
            <a:endParaRPr lang="zh-CN" altLang="en-US"/>
          </a:p>
          <a:p>
            <a:r>
              <a:rPr lang="en-US" altLang="zh-CN"/>
              <a:t>2020</a:t>
            </a:r>
            <a:endParaRPr lang="en-US" altLang="zh-CN"/>
          </a:p>
          <a:p>
            <a:r>
              <a:rPr lang="en-US" altLang="zh-CN"/>
              <a:t>Cisco：    30</a:t>
            </a:r>
            <a:r>
              <a:rPr lang="zh-CN" altLang="en-US"/>
              <a:t>篇</a:t>
            </a:r>
            <a:endParaRPr lang="zh-CN" altLang="en-US"/>
          </a:p>
          <a:p>
            <a:r>
              <a:rPr lang="en-US" altLang="zh-CN"/>
              <a:t>Huawei： 18</a:t>
            </a:r>
            <a:r>
              <a:rPr lang="zh-CN" altLang="en-US"/>
              <a:t>篇</a:t>
            </a:r>
            <a:endParaRPr lang="zh-CN" altLang="en-US"/>
          </a:p>
          <a:p>
            <a:r>
              <a:rPr lang="en-US" altLang="zh-CN"/>
              <a:t>Google:    12</a:t>
            </a:r>
            <a:r>
              <a:rPr lang="zh-CN" altLang="en-US"/>
              <a:t>篇</a:t>
            </a:r>
            <a:endParaRPr lang="zh-CN" altLang="en-US"/>
          </a:p>
          <a:p>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sym typeface="+mn-ea"/>
              </a:rPr>
              <a:t>二、谁真正做出了贡献（真正影响</a:t>
            </a:r>
            <a:r>
              <a:rPr lang="en-US" altLang="zh-CN">
                <a:sym typeface="+mn-ea"/>
              </a:rPr>
              <a:t>RFC</a:t>
            </a:r>
            <a:r>
              <a:rPr lang="zh-CN" altLang="en-US">
                <a:sym typeface="+mn-ea"/>
              </a:rPr>
              <a:t>的人是谁）</a:t>
            </a:r>
            <a:br>
              <a:rPr lang="zh-CN" altLang="en-US">
                <a:sym typeface="+mn-ea"/>
              </a:rPr>
            </a:br>
            <a:r>
              <a:rPr lang="en-US" altLang="zh-CN"/>
              <a:t>Who truly made contributions (who actually influenced the RFCs)</a:t>
            </a:r>
            <a:endParaRPr lang="en-US" altLang="zh-CN"/>
          </a:p>
        </p:txBody>
      </p:sp>
      <p:sp>
        <p:nvSpPr>
          <p:cNvPr id="3" name="内容占位符 2"/>
          <p:cNvSpPr>
            <a:spLocks noGrp="1"/>
          </p:cNvSpPr>
          <p:nvPr>
            <p:ph idx="1"/>
            <p:custDataLst>
              <p:tags r:id="rId2"/>
            </p:custDataLst>
          </p:nvPr>
        </p:nvSpPr>
        <p:spPr/>
        <p:txBody>
          <a:bodyPr/>
          <a:p>
            <a:pPr marL="0" indent="0">
              <a:buNone/>
            </a:pPr>
            <a:endParaRPr lang="zh-CN" altLang="en-US"/>
          </a:p>
          <a:p>
            <a:r>
              <a:rPr lang="zh-CN" altLang="en-US"/>
              <a:t>不要只看作者</a:t>
            </a:r>
            <a:endParaRPr lang="zh-CN" altLang="en-US"/>
          </a:p>
          <a:p>
            <a:r>
              <a:rPr lang="zh-CN" altLang="en-US"/>
              <a:t>还要找</a:t>
            </a:r>
            <a:r>
              <a:rPr lang="en-US" altLang="zh-CN"/>
              <a:t>acknowledgement（</a:t>
            </a:r>
            <a:r>
              <a:rPr lang="zh-CN" altLang="en-US"/>
              <a:t>感谢名单）</a:t>
            </a:r>
            <a:endParaRPr lang="zh-CN" altLang="en-US"/>
          </a:p>
          <a:p>
            <a:r>
              <a:rPr lang="zh-CN" altLang="en-US"/>
              <a:t>以及</a:t>
            </a:r>
            <a:r>
              <a:rPr lang="en-US" altLang="zh-CN"/>
              <a:t>mail Archive（</a:t>
            </a:r>
            <a:r>
              <a:rPr lang="zh-CN" altLang="en-US"/>
              <a:t>邮件讨论）</a:t>
            </a:r>
            <a:endParaRPr lang="zh-CN" altLang="en-US"/>
          </a:p>
          <a:p>
            <a:r>
              <a:rPr lang="en-US" altLang="zh-CN"/>
              <a:t>Github Discussion</a:t>
            </a:r>
            <a:endParaRPr lang="en-US" altLang="zh-CN"/>
          </a:p>
          <a:p>
            <a:endParaRPr lang="en-US" altLang="zh-CN"/>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三、公司之间如何合作</a:t>
            </a:r>
            <a:r>
              <a:rPr lang="en-US" altLang="zh-CN"/>
              <a:t>How companies collaborate with each other</a:t>
            </a:r>
            <a:endParaRPr lang="en-US" altLang="zh-CN"/>
          </a:p>
        </p:txBody>
      </p:sp>
      <p:sp>
        <p:nvSpPr>
          <p:cNvPr id="3" name="内容占位符 2"/>
          <p:cNvSpPr>
            <a:spLocks noGrp="1"/>
          </p:cNvSpPr>
          <p:nvPr>
            <p:ph idx="1"/>
            <p:custDataLst>
              <p:tags r:id="rId2"/>
            </p:custDataLst>
          </p:nvPr>
        </p:nvSpPr>
        <p:spPr/>
        <p:txBody>
          <a:bodyPr/>
          <a:p>
            <a:r>
              <a:rPr lang="zh-CN" altLang="en-US"/>
              <a:t>可以建立</a:t>
            </a:r>
            <a:r>
              <a:rPr lang="en-US" altLang="zh-CN"/>
              <a:t>company collaboration network</a:t>
            </a:r>
            <a:endParaRPr lang="en-US" altLang="zh-CN"/>
          </a:p>
          <a:p>
            <a:r>
              <a:rPr lang="en-US" altLang="zh-CN"/>
              <a:t>Cisco——Huawei</a:t>
            </a:r>
            <a:endParaRPr lang="en-US" altLang="zh-CN"/>
          </a:p>
          <a:p>
            <a:r>
              <a:rPr lang="en-US" altLang="zh-CN"/>
              <a:t>Cisco——Google</a:t>
            </a:r>
            <a:endParaRPr lang="en-US" altLang="zh-CN"/>
          </a:p>
          <a:p>
            <a:r>
              <a:rPr lang="zh-CN" altLang="en-US"/>
              <a:t>然后比较2005，2010，2015，2020合作关系变化</a:t>
            </a:r>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四、国家影响力变化</a:t>
            </a:r>
            <a:r>
              <a:rPr lang="en-US" altLang="zh-CN"/>
              <a:t>Changes in national influence</a:t>
            </a:r>
            <a:endParaRPr lang="en-US" altLang="zh-CN"/>
          </a:p>
        </p:txBody>
      </p:sp>
      <p:sp>
        <p:nvSpPr>
          <p:cNvPr id="3" name="内容占位符 2"/>
          <p:cNvSpPr>
            <a:spLocks noGrp="1"/>
          </p:cNvSpPr>
          <p:nvPr>
            <p:ph idx="1"/>
            <p:custDataLst>
              <p:tags r:id="rId2"/>
            </p:custDataLst>
          </p:nvPr>
        </p:nvSpPr>
        <p:spPr/>
        <p:txBody>
          <a:bodyPr/>
          <a:p>
            <a:endParaRPr lang="zh-CN" altLang="en-US"/>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真正的问题：新公司怎样才能进入</a:t>
            </a:r>
            <a:r>
              <a:rPr lang="en-US" altLang="zh-CN"/>
              <a:t>IETF</a:t>
            </a:r>
            <a:endParaRPr lang="en-US" altLang="zh-CN"/>
          </a:p>
        </p:txBody>
      </p:sp>
      <p:sp>
        <p:nvSpPr>
          <p:cNvPr id="3" name="内容占位符 2"/>
          <p:cNvSpPr>
            <a:spLocks noGrp="1"/>
          </p:cNvSpPr>
          <p:nvPr>
            <p:ph idx="1"/>
            <p:custDataLst>
              <p:tags r:id="rId2"/>
            </p:custDataLst>
          </p:nvPr>
        </p:nvSpPr>
        <p:spPr/>
        <p:txBody>
          <a:bodyPr/>
          <a:p>
            <a:r>
              <a:rPr lang="en-US" altLang="zh-CN"/>
              <a:t>example:Huawei</a:t>
            </a:r>
            <a:r>
              <a:rPr lang="zh-CN" altLang="en-US"/>
              <a:t>最开始：</a:t>
            </a:r>
            <a:endParaRPr lang="zh-CN" altLang="en-US"/>
          </a:p>
          <a:p>
            <a:r>
              <a:rPr lang="zh-CN" altLang="en-US"/>
              <a:t>没有经验。</a:t>
            </a:r>
            <a:endParaRPr lang="zh-CN" altLang="en-US"/>
          </a:p>
          <a:p>
            <a:r>
              <a:rPr lang="zh-CN" altLang="en-US"/>
              <a:t>后来：</a:t>
            </a:r>
            <a:endParaRPr lang="zh-CN" altLang="en-US"/>
          </a:p>
          <a:p>
            <a:r>
              <a:rPr lang="zh-CN" altLang="en-US"/>
              <a:t>招聘很多美国标准专家。</a:t>
            </a:r>
            <a:endParaRPr lang="zh-CN" altLang="en-US"/>
          </a:p>
          <a:p>
            <a:r>
              <a:rPr lang="zh-CN" altLang="en-US"/>
              <a:t>然后：</a:t>
            </a:r>
            <a:endParaRPr lang="zh-CN" altLang="en-US"/>
          </a:p>
          <a:p>
            <a:r>
              <a:rPr lang="zh-CN" altLang="en-US"/>
              <a:t>再培养中国工程师。</a:t>
            </a:r>
            <a:endParaRPr lang="zh-CN" altLang="en-US"/>
          </a:p>
          <a:p>
            <a:r>
              <a:rPr lang="zh-CN" altLang="en-US"/>
              <a:t>于是：</a:t>
            </a:r>
            <a:endParaRPr lang="zh-CN" altLang="en-US"/>
          </a:p>
          <a:p>
            <a:r>
              <a:rPr lang="zh-CN" altLang="en-US"/>
              <a:t>拥有越来越大的影响力</a:t>
            </a:r>
            <a:endParaRPr lang="zh-CN"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Social Graph</a:t>
            </a:r>
            <a:r>
              <a:rPr lang="zh-CN" altLang="en-US"/>
              <a:t>（社交网络图）</a:t>
            </a:r>
            <a:endParaRPr lang="zh-CN" altLang="en-US"/>
          </a:p>
        </p:txBody>
      </p:sp>
      <p:sp>
        <p:nvSpPr>
          <p:cNvPr id="3" name="内容占位符 2"/>
          <p:cNvSpPr>
            <a:spLocks noGrp="1"/>
          </p:cNvSpPr>
          <p:nvPr>
            <p:ph idx="1"/>
            <p:custDataLst>
              <p:tags r:id="rId2"/>
            </p:custDataLst>
          </p:nvPr>
        </p:nvSpPr>
        <p:spPr/>
        <p:txBody>
          <a:bodyPr/>
          <a:p>
            <a:r>
              <a:rPr lang="en-US" altLang="zh-CN"/>
              <a:t>Regard </a:t>
            </a:r>
            <a:r>
              <a:rPr lang="en-US" altLang="zh-CN"/>
              <a:t>each participant as a node.</a:t>
            </a:r>
            <a:endParaRPr lang="en-US" altLang="zh-CN"/>
          </a:p>
          <a:p>
            <a:r>
              <a:rPr lang="en-US" altLang="zh-CN"/>
              <a:t>If a reply b</a:t>
            </a:r>
            <a:endParaRPr lang="en-US" altLang="zh-CN"/>
          </a:p>
          <a:p>
            <a:r>
              <a:rPr lang="en-US" altLang="zh-CN"/>
              <a:t>a—&gt;b</a:t>
            </a:r>
            <a:endParaRPr lang="en-US" altLang="zh-CN"/>
          </a:p>
          <a:p>
            <a:r>
              <a:rPr lang="en-US" altLang="zh-CN"/>
              <a:t>We observe an interaction between two participants when one replies to an email sent by another.</a:t>
            </a:r>
            <a:endParaRPr lang="en-US" altLang="zh-CN"/>
          </a:p>
          <a:p>
            <a:r>
              <a:rPr lang="en-US" altLang="zh-CN"/>
              <a:t>The more people you know, The more success you will be(become RFC)</a:t>
            </a:r>
            <a:endParaRPr lang="en-US" altLang="zh-CN"/>
          </a:p>
          <a:p>
            <a:r>
              <a:rPr lang="en-US" altLang="zh-CN"/>
              <a:t>The more interation someone has -The more influence they have </a:t>
            </a:r>
            <a:endParaRPr lang="en-US" altLang="zh-CN"/>
          </a:p>
          <a:p>
            <a:r>
              <a:rPr lang="zh-CN" altLang="en-US"/>
              <a:t>邮件影响力高的人</a:t>
            </a:r>
            <a:endParaRPr lang="zh-CN" altLang="en-US"/>
          </a:p>
          <a:p>
            <a:r>
              <a:rPr lang="en-US" altLang="zh-CN"/>
              <a:t>↓</a:t>
            </a:r>
            <a:endParaRPr lang="en-US" altLang="zh-CN"/>
          </a:p>
          <a:p>
            <a:r>
              <a:rPr lang="zh-CN" altLang="en-US"/>
              <a:t>更可能写更多 </a:t>
            </a:r>
            <a:r>
              <a:rPr lang="en-US" altLang="zh-CN"/>
              <a:t>Draft</a:t>
            </a:r>
            <a:endParaRPr lang="en-US" altLang="zh-CN"/>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br>
              <a:rPr lang="zh-CN" altLang="en-US"/>
            </a:br>
            <a:r>
              <a:rPr lang="en-US" altLang="zh-CN">
                <a:sym typeface="+mn-ea"/>
              </a:rPr>
              <a:t>Betweenness Centrality（</a:t>
            </a:r>
            <a:r>
              <a:rPr lang="zh-CN" altLang="en-US">
                <a:sym typeface="+mn-ea"/>
              </a:rPr>
              <a:t>中介中心性）</a:t>
            </a:r>
            <a:br>
              <a:rPr lang="en-US" altLang="zh-CN"/>
            </a:br>
            <a:r>
              <a:rPr lang="zh-CN" altLang="en-US"/>
              <a:t>。</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sym typeface="+mn-ea"/>
              </a:rPr>
              <a:t>这是社会网络分析里非常经典的指标</a:t>
            </a:r>
            <a:endParaRPr lang="zh-CN" altLang="en-US">
              <a:sym typeface="+mn-ea"/>
            </a:endParaRPr>
          </a:p>
          <a:p>
            <a:endParaRPr lang="zh-CN" altLang="en-US">
              <a:sym typeface="+mn-ea"/>
            </a:endParaRPr>
          </a:p>
          <a:p>
            <a:r>
              <a:rPr lang="zh-CN" altLang="en-US"/>
              <a:t>它衡量的是：</a:t>
            </a:r>
            <a:endParaRPr lang="zh-CN" altLang="en-US"/>
          </a:p>
          <a:p>
            <a:endParaRPr lang="en-US" altLang="zh-CN"/>
          </a:p>
          <a:p>
            <a:r>
              <a:rPr lang="zh-CN" altLang="en-US"/>
              <a:t>一个人是不是很多人之间的"桥梁"。</a:t>
            </a:r>
            <a:endParaRPr lang="zh-CN" altLang="en-US"/>
          </a:p>
          <a:p>
            <a:r>
              <a:rPr lang="en-US" altLang="zh-CN"/>
              <a:t>Huawei ---- Alice ---- Bob ---- Cisco</a:t>
            </a:r>
            <a:endParaRPr lang="en-US" altLang="zh-CN"/>
          </a:p>
          <a:p>
            <a:r>
              <a:rPr lang="en-US" altLang="zh-CN"/>
              <a:t>                  |</a:t>
            </a:r>
            <a:endParaRPr lang="en-US" altLang="zh-CN"/>
          </a:p>
          <a:p>
            <a:r>
              <a:rPr lang="en-US" altLang="zh-CN"/>
              <a:t>              Google</a:t>
            </a:r>
            <a:endParaRPr lang="en-US" altLang="zh-CN"/>
          </a:p>
          <a:p>
            <a:r>
              <a:rPr lang="zh-CN" altLang="en-US"/>
              <a:t>那么 </a:t>
            </a:r>
            <a:r>
              <a:rPr lang="en-US" altLang="zh-CN"/>
              <a:t>Alice </a:t>
            </a:r>
            <a:r>
              <a:rPr lang="zh-CN" altLang="en-US"/>
              <a:t>的 </a:t>
            </a:r>
            <a:r>
              <a:rPr lang="en-US" altLang="zh-CN"/>
              <a:t>betweenness centrality </a:t>
            </a:r>
            <a:r>
              <a:rPr lang="zh-CN" altLang="en-US"/>
              <a:t>就很高。（</a:t>
            </a:r>
            <a:r>
              <a:rPr lang="zh-CN" altLang="en-US">
                <a:sym typeface="+mn-ea"/>
              </a:rPr>
              <a:t>连接别人最多</a:t>
            </a:r>
            <a:r>
              <a:rPr lang="zh-CN" altLang="en-US"/>
              <a:t>）</a:t>
            </a:r>
            <a:endParaRPr lang="zh-CN"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untimate </a:t>
            </a:r>
            <a:r>
              <a:rPr lang="en-US" altLang="zh-CN"/>
              <a:t>goal</a:t>
            </a:r>
            <a:endParaRPr lang="en-US" altLang="zh-CN"/>
          </a:p>
        </p:txBody>
      </p:sp>
      <p:sp>
        <p:nvSpPr>
          <p:cNvPr id="3" name="内容占位符 2"/>
          <p:cNvSpPr>
            <a:spLocks noGrp="1"/>
          </p:cNvSpPr>
          <p:nvPr>
            <p:ph idx="1"/>
            <p:custDataLst>
              <p:tags r:id="rId2"/>
            </p:custDataLst>
          </p:nvPr>
        </p:nvSpPr>
        <p:spPr/>
        <p:txBody>
          <a:bodyPr/>
          <a:p>
            <a:r>
              <a:rPr lang="en-US" altLang="zh-CN"/>
              <a:t>Focus：</a:t>
            </a:r>
            <a:r>
              <a:rPr lang="zh-CN" altLang="en-US"/>
              <a:t>只分析“公司/组织的 </a:t>
            </a:r>
            <a:r>
              <a:rPr lang="en-US" altLang="zh-CN"/>
              <a:t>Draft </a:t>
            </a:r>
            <a:r>
              <a:rPr lang="zh-CN" altLang="en-US"/>
              <a:t>是否成功变成 </a:t>
            </a:r>
            <a:r>
              <a:rPr lang="en-US" altLang="zh-CN"/>
              <a:t>RFC”</a:t>
            </a:r>
            <a:endParaRPr lang="en-US" altLang="zh-CN"/>
          </a:p>
          <a:p>
            <a:r>
              <a:rPr lang="en-US" altLang="zh-CN"/>
              <a:t>Which organisations are more effective at getting their Internet-Drafts published as RFCs?</a:t>
            </a:r>
            <a:endParaRPr lang="en-US" altLang="zh-CN"/>
          </a:p>
          <a:p>
            <a:endParaRPr lang="en-US" altLang="zh-CN"/>
          </a:p>
          <a:p>
            <a:r>
              <a:rPr lang="en-US" altLang="zh-CN"/>
              <a:t>I would like to start with a focused analysis of organisations’ effectiveness, using document authorship and whether drafts become RFCs. I plan to compare organisations such as Cisco, Google, Microsoft, Huawei, ZTE, Ericsson, and Nokia over time.</a:t>
            </a:r>
            <a:endParaRPr lang="en-US" altLang="zh-CN"/>
          </a:p>
          <a:p>
            <a:r>
              <a:rPr lang="zh-CN" altLang="en-US"/>
              <a:t>我想先从组织层面的有效性分析开始，使用文档作者和 </a:t>
            </a:r>
            <a:r>
              <a:rPr lang="en-US" altLang="zh-CN"/>
              <a:t>Draft </a:t>
            </a:r>
            <a:r>
              <a:rPr lang="zh-CN" altLang="en-US"/>
              <a:t>是否变成 </a:t>
            </a:r>
            <a:r>
              <a:rPr lang="en-US" altLang="zh-CN"/>
              <a:t>RFC </a:t>
            </a:r>
            <a:r>
              <a:rPr lang="zh-CN" altLang="en-US"/>
              <a:t>作为主要数据。我计划比较 </a:t>
            </a:r>
            <a:r>
              <a:rPr lang="en-US" altLang="zh-CN"/>
              <a:t>Cisco、Google、Microsoft、Huawei、ZTE、Ericsson、Nokia </a:t>
            </a:r>
            <a:r>
              <a:rPr lang="zh-CN" altLang="en-US"/>
              <a:t>等组织随时间的变化。</a:t>
            </a:r>
            <a:endParaRPr lang="zh-CN" altLang="en-US"/>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normAutofit fontScale="70000"/>
          </a:bodyPr>
          <a:p>
            <a:r>
              <a:rPr lang="en-US" altLang="zh-CN"/>
              <a:t>1995</a:t>
            </a:r>
            <a:endParaRPr lang="en-US" altLang="zh-CN"/>
          </a:p>
          <a:p>
            <a:r>
              <a:rPr lang="en-US" altLang="zh-CN"/>
              <a:t>Cisco：20</a:t>
            </a:r>
            <a:endParaRPr lang="en-US" altLang="zh-CN"/>
          </a:p>
          <a:p>
            <a:r>
              <a:rPr lang="en-US" altLang="zh-CN"/>
              <a:t>Google：1</a:t>
            </a:r>
            <a:endParaRPr lang="en-US" altLang="zh-CN"/>
          </a:p>
          <a:p>
            <a:r>
              <a:rPr lang="en-US" altLang="zh-CN"/>
              <a:t>Huawei：0</a:t>
            </a:r>
            <a:endParaRPr lang="en-US" altLang="zh-CN"/>
          </a:p>
          <a:p>
            <a:r>
              <a:rPr lang="en-US" altLang="zh-CN"/>
              <a:t>↓</a:t>
            </a:r>
            <a:endParaRPr lang="en-US" altLang="zh-CN"/>
          </a:p>
          <a:p>
            <a:r>
              <a:rPr lang="en-US" altLang="zh-CN"/>
              <a:t>2025</a:t>
            </a:r>
            <a:endParaRPr lang="en-US" altLang="zh-CN"/>
          </a:p>
          <a:p>
            <a:endParaRPr lang="en-US" altLang="zh-CN"/>
          </a:p>
          <a:p>
            <a:r>
              <a:rPr lang="en-US" altLang="zh-CN"/>
              <a:t>Cisco：30</a:t>
            </a:r>
            <a:endParaRPr lang="en-US" altLang="zh-CN"/>
          </a:p>
          <a:p>
            <a:r>
              <a:rPr lang="en-US" altLang="zh-CN"/>
              <a:t>Google：45</a:t>
            </a:r>
            <a:endParaRPr lang="en-US" altLang="zh-CN"/>
          </a:p>
          <a:p>
            <a:r>
              <a:rPr lang="en-US" altLang="zh-CN"/>
              <a:t>Huawei：18</a:t>
            </a:r>
            <a:endParaRPr lang="en-US" altLang="zh-CN"/>
          </a:p>
          <a:p>
            <a:r>
              <a:rPr lang="zh-CN" altLang="en-US"/>
              <a:t>再结合：</a:t>
            </a:r>
            <a:endParaRPr lang="en-US" altLang="zh-CN"/>
          </a:p>
          <a:p>
            <a:r>
              <a:rPr lang="en-US" altLang="zh-CN"/>
              <a:t>RFC Success Rate</a:t>
            </a:r>
            <a:endParaRPr lang="en-US" altLang="zh-CN"/>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my </a:t>
            </a:r>
            <a:r>
              <a:rPr lang="en-US" altLang="zh-CN"/>
              <a:t>idea</a:t>
            </a:r>
            <a:endParaRPr lang="en-US" altLang="zh-CN"/>
          </a:p>
        </p:txBody>
      </p:sp>
      <p:pic>
        <p:nvPicPr>
          <p:cNvPr id="6" name="内容占位符 5"/>
          <p:cNvPicPr>
            <a:picLocks noChangeAspect="1"/>
          </p:cNvPicPr>
          <p:nvPr>
            <p:ph idx="1"/>
            <p:custDataLst>
              <p:tags r:id="rId2"/>
            </p:custDataLst>
          </p:nvPr>
        </p:nvPicPr>
        <p:blipFill>
          <a:blip r:embed="rId3"/>
          <a:stretch>
            <a:fillRect/>
          </a:stretch>
        </p:blipFill>
        <p:spPr>
          <a:xfrm>
            <a:off x="979170" y="2039620"/>
            <a:ext cx="2802890" cy="4759325"/>
          </a:xfrm>
          <a:prstGeom prst="rect">
            <a:avLst/>
          </a:prstGeom>
        </p:spPr>
      </p:pic>
      <p:pic>
        <p:nvPicPr>
          <p:cNvPr id="5" name="E657119C-6982-421D-8BA7-E74DEB70A7D9-3" descr="C:/Users/ZHZ/AppData/Local/Temp/wpp.XGqTKAwpp"/>
          <p:cNvPicPr>
            <a:picLocks noChangeAspect="1"/>
          </p:cNvPicPr>
          <p:nvPr/>
        </p:nvPicPr>
        <p:blipFill>
          <a:blip r:embed="rId4"/>
          <a:stretch>
            <a:fillRect/>
          </a:stretch>
        </p:blipFill>
        <p:spPr>
          <a:xfrm>
            <a:off x="0" y="1269365"/>
            <a:ext cx="11057890" cy="1003935"/>
          </a:xfrm>
          <a:prstGeom prst="rect">
            <a:avLst/>
          </a:prstGeom>
        </p:spPr>
      </p:pic>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new idea</a:t>
            </a:r>
            <a:r>
              <a:rPr lang="zh-CN" altLang="en-US">
                <a:sym typeface="+mn-ea"/>
              </a:rPr>
              <a:t>：</a:t>
            </a:r>
            <a:endParaRPr lang="zh-CN" altLang="en-US"/>
          </a:p>
        </p:txBody>
      </p:sp>
      <p:sp>
        <p:nvSpPr>
          <p:cNvPr id="3" name="内容占位符 2"/>
          <p:cNvSpPr>
            <a:spLocks noGrp="1"/>
          </p:cNvSpPr>
          <p:nvPr>
            <p:ph idx="1"/>
            <p:custDataLst>
              <p:tags r:id="rId2"/>
            </p:custDataLst>
          </p:nvPr>
        </p:nvSpPr>
        <p:spPr/>
        <p:txBody>
          <a:bodyPr>
            <a:normAutofit fontScale="50000"/>
          </a:bodyPr>
          <a:p>
            <a:pPr marL="0" indent="0">
              <a:buNone/>
            </a:pPr>
            <a:r>
              <a:rPr lang="en-US" altLang="zh-CN"/>
              <a:t>Did the 2019 Entity List change organisational collaboration within the IETF?</a:t>
            </a:r>
            <a:endParaRPr lang="en-US" altLang="zh-CN"/>
          </a:p>
          <a:p>
            <a:pPr marL="0" indent="0">
              <a:buNone/>
            </a:pPr>
            <a:r>
              <a:rPr lang="en-US" altLang="zh-CN"/>
              <a:t>Before:</a:t>
            </a:r>
            <a:endParaRPr lang="en-US" altLang="zh-CN"/>
          </a:p>
          <a:p>
            <a:pPr marL="0" indent="0">
              <a:buNone/>
            </a:pPr>
            <a:r>
              <a:rPr lang="en-US" altLang="zh-CN"/>
              <a:t>Huawei —— Cisco</a:t>
            </a:r>
            <a:endParaRPr lang="en-US" altLang="zh-CN"/>
          </a:p>
          <a:p>
            <a:pPr marL="0" indent="0">
              <a:buNone/>
            </a:pPr>
            <a:r>
              <a:rPr lang="en-US" altLang="zh-CN"/>
              <a:t>Huawei —— Google</a:t>
            </a:r>
            <a:endParaRPr lang="en-US" altLang="zh-CN"/>
          </a:p>
          <a:p>
            <a:pPr marL="0" indent="0">
              <a:buNone/>
            </a:pPr>
            <a:r>
              <a:rPr lang="en-US" altLang="zh-CN"/>
              <a:t>Huawei —— Ericsson</a:t>
            </a:r>
            <a:endParaRPr lang="en-US" altLang="zh-CN"/>
          </a:p>
          <a:p>
            <a:pPr marL="0" indent="0">
              <a:buNone/>
            </a:pPr>
            <a:r>
              <a:rPr lang="en-US" altLang="zh-CN"/>
              <a:t>now:</a:t>
            </a:r>
            <a:endParaRPr lang="en-US" altLang="zh-CN"/>
          </a:p>
          <a:p>
            <a:pPr marL="0" indent="0">
              <a:buNone/>
            </a:pPr>
            <a:r>
              <a:rPr lang="en-US" altLang="zh-CN"/>
              <a:t>Huawei —— Cisco</a:t>
            </a:r>
            <a:endParaRPr lang="en-US" altLang="zh-CN"/>
          </a:p>
          <a:p>
            <a:pPr marL="0" indent="0">
              <a:buNone/>
            </a:pPr>
            <a:r>
              <a:rPr lang="en-US" altLang="zh-CN"/>
              <a:t>↓</a:t>
            </a:r>
            <a:endParaRPr lang="en-US" altLang="zh-CN"/>
          </a:p>
          <a:p>
            <a:pPr marL="0" indent="0">
              <a:buNone/>
            </a:pPr>
            <a:r>
              <a:rPr lang="en-US" altLang="zh-CN"/>
              <a:t>reduce</a:t>
            </a:r>
            <a:r>
              <a:rPr lang="zh-CN" altLang="en-US"/>
              <a:t>？</a:t>
            </a:r>
            <a:endParaRPr lang="en-US" altLang="zh-CN"/>
          </a:p>
          <a:p>
            <a:pPr marL="0" indent="0">
              <a:buNone/>
            </a:pPr>
            <a:r>
              <a:rPr lang="en-US" altLang="zh-CN"/>
              <a:t>Huawei —— Google</a:t>
            </a:r>
            <a:endParaRPr lang="en-US" altLang="zh-CN"/>
          </a:p>
          <a:p>
            <a:pPr marL="0" indent="0">
              <a:buNone/>
            </a:pPr>
            <a:r>
              <a:rPr lang="en-US" altLang="zh-CN"/>
              <a:t>↓</a:t>
            </a:r>
            <a:endParaRPr lang="en-US" altLang="zh-CN"/>
          </a:p>
          <a:p>
            <a:pPr marL="0" indent="0">
              <a:buNone/>
            </a:pPr>
            <a:r>
              <a:rPr lang="en-US" altLang="zh-CN"/>
              <a:t>reduce</a:t>
            </a:r>
            <a:r>
              <a:rPr lang="zh-CN" altLang="en-US"/>
              <a:t>？</a:t>
            </a:r>
            <a:endParaRPr lang="en-US" altLang="zh-CN"/>
          </a:p>
          <a:p>
            <a:pPr marL="0" indent="0">
              <a:buNone/>
            </a:pPr>
            <a:r>
              <a:rPr lang="en-US" altLang="zh-CN"/>
              <a:t>Huawei —— Ericsson</a:t>
            </a:r>
            <a:endParaRPr lang="en-US" altLang="zh-CN"/>
          </a:p>
          <a:p>
            <a:pPr marL="0" indent="0">
              <a:buNone/>
            </a:pPr>
            <a:r>
              <a:rPr lang="en-US" altLang="zh-CN"/>
              <a:t>↓</a:t>
            </a:r>
            <a:endParaRPr lang="en-US" altLang="zh-CN"/>
          </a:p>
          <a:p>
            <a:pPr marL="0" indent="0">
              <a:buNone/>
            </a:pPr>
            <a:r>
              <a:rPr lang="en-US" altLang="zh-CN"/>
              <a:t>stay</a:t>
            </a:r>
            <a:r>
              <a:rPr lang="zh-CN" altLang="en-US"/>
              <a:t>？</a:t>
            </a:r>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idea in </a:t>
            </a:r>
            <a:r>
              <a:rPr lang="en-US" altLang="zh-CN"/>
              <a:t>web-we-weave</a:t>
            </a:r>
            <a:endParaRPr lang="en-US" altLang="zh-CN"/>
          </a:p>
        </p:txBody>
      </p:sp>
      <p:pic>
        <p:nvPicPr>
          <p:cNvPr id="4" name="E657119C-6982-421D-8BA7-E74DEB70A7D9-2" descr="wpp"/>
          <p:cNvPicPr>
            <a:picLocks noChangeAspect="1"/>
          </p:cNvPicPr>
          <p:nvPr>
            <p:ph idx="1"/>
            <p:custDataLst>
              <p:tags r:id="rId2"/>
            </p:custDataLst>
          </p:nvPr>
        </p:nvPicPr>
        <p:blipFill>
          <a:blip r:embed="rId3"/>
          <a:stretch>
            <a:fillRect/>
          </a:stretch>
        </p:blipFill>
        <p:spPr>
          <a:xfrm>
            <a:off x="1128395" y="1313180"/>
            <a:ext cx="4521835" cy="5106670"/>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a:t>
            </a:r>
            <a:r>
              <a:rPr lang="en-US" altLang="zh-CN"/>
              <a:t>esult</a:t>
            </a:r>
            <a:endParaRPr lang="en-US" altLang="zh-CN"/>
          </a:p>
        </p:txBody>
      </p:sp>
      <p:pic>
        <p:nvPicPr>
          <p:cNvPr id="6" name="内容占位符 5"/>
          <p:cNvPicPr>
            <a:picLocks noChangeAspect="1"/>
          </p:cNvPicPr>
          <p:nvPr>
            <p:ph idx="1"/>
            <p:custDataLst>
              <p:tags r:id="rId2"/>
            </p:custDataLst>
          </p:nvPr>
        </p:nvPicPr>
        <p:blipFill>
          <a:blip r:embed="rId3"/>
          <a:stretch>
            <a:fillRect/>
          </a:stretch>
        </p:blipFill>
        <p:spPr>
          <a:xfrm>
            <a:off x="608330" y="1490345"/>
            <a:ext cx="8546465" cy="4759325"/>
          </a:xfrm>
          <a:prstGeom prst="rect">
            <a:avLst/>
          </a:prstGeom>
        </p:spPr>
      </p:pic>
    </p:spTree>
    <p:custDataLst>
      <p:tags r:id="rId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que</a:t>
            </a:r>
            <a:r>
              <a:rPr lang="en-US" altLang="zh-CN"/>
              <a:t>stion</a:t>
            </a:r>
            <a:endParaRPr lang="en-US" altLang="zh-CN"/>
          </a:p>
        </p:txBody>
      </p:sp>
      <p:sp>
        <p:nvSpPr>
          <p:cNvPr id="3" name="内容占位符 2"/>
          <p:cNvSpPr>
            <a:spLocks noGrp="1"/>
          </p:cNvSpPr>
          <p:nvPr>
            <p:ph idx="1"/>
            <p:custDataLst>
              <p:tags r:id="rId2"/>
            </p:custDataLst>
          </p:nvPr>
        </p:nvSpPr>
        <p:spPr/>
        <p:txBody>
          <a:bodyPr>
            <a:normAutofit fontScale="90000"/>
          </a:bodyPr>
          <a:p>
            <a:r>
              <a:rPr lang="en-US" altLang="zh-CN"/>
              <a:t>Is it reasonable to focus on organisational effectiveness instead of analysing the mailing-list social graph?</a:t>
            </a:r>
            <a:endParaRPr lang="en-US" altLang="zh-CN"/>
          </a:p>
          <a:p>
            <a:endParaRPr lang="en-US" altLang="zh-CN"/>
          </a:p>
          <a:p>
            <a:r>
              <a:rPr lang="en-US" altLang="zh-CN"/>
              <a:t>Should the dissertation focus primarily on:</a:t>
            </a:r>
            <a:endParaRPr lang="en-US" altLang="zh-CN"/>
          </a:p>
          <a:p>
            <a:pPr marL="0" indent="0">
              <a:buNone/>
            </a:pPr>
            <a:r>
              <a:rPr lang="en-US" altLang="zh-CN"/>
              <a:t>Participation</a:t>
            </a:r>
            <a:endParaRPr lang="en-US" altLang="zh-CN"/>
          </a:p>
          <a:p>
            <a:pPr marL="0" indent="0">
              <a:buNone/>
            </a:pPr>
            <a:r>
              <a:rPr lang="en-US" altLang="zh-CN"/>
              <a:t>Success Rate</a:t>
            </a:r>
            <a:endParaRPr lang="en-US" altLang="zh-CN"/>
          </a:p>
          <a:p>
            <a:pPr marL="0" indent="0">
              <a:buNone/>
            </a:pPr>
            <a:r>
              <a:rPr lang="en-US" altLang="zh-CN"/>
              <a:t>or both?</a:t>
            </a:r>
            <a:endParaRPr lang="en-US" altLang="zh-CN"/>
          </a:p>
          <a:p>
            <a:r>
              <a:rPr lang="en-US" altLang="zh-CN"/>
              <a:t>which question moere important free questuion ,each question dirrt pof the data ,meetiung look at the document the ,looking at the miling list data depend the we used ,think about or you should do analyisising the small mailing more important,slowly and quickly </a:t>
            </a:r>
            <a:endParaRPr lang="en-US" altLang="zh-CN"/>
          </a:p>
          <a:p>
            <a:r>
              <a:rPr lang="en-US" altLang="zh-CN"/>
              <a:t>Would adding a case study (e.g., Huawei after the 2019 Entity List) strengthen the dissertation?</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BEAUTIFY_FLAG" val="#wm#"/>
  <p:tag name="KSO_WM_TEMPLATE_CATEGORY" val="custom"/>
  <p:tag name="KSO_WM_TEMPLATE_INDEX" val="2020508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BEAUTIFY_FLAG" val="#wm#"/>
  <p:tag name="KSO_WM_TEMPLATE_CATEGORY" val="custom"/>
  <p:tag name="KSO_WM_TEMPLATE_INDEX" val="2020508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BEAUTIFY_FLAG" val="#wm#"/>
  <p:tag name="KSO_WM_TEMPLATE_CATEGORY" val="custom"/>
  <p:tag name="KSO_WM_TEMPLATE_INDEX" val="2020508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k5qWWxNa01sTWpKemFHOTNSM0pwWkNVeU1pVXpRWFJ5ZFdVbE1rTWxNakp5YVdOb1ZHVjRkQ1V5TWlVelFYUnlkV1VsTWtNbE1qSm9aV2xuYUhRbE1qSWxNMEV4TURBd0pUZEVKVEpESlRJeVpXeGxiV1Z1ZEhNbE1qSWxNMEVsTjBJbE1qSmhaVzlJU0dGUGVFZHBNamt4TXpVNEpUSXlKVE5CSlRkQ0pUSXlhV1FsTWpJbE0wRWxNakpoWlc5SVNHRlBlRWRwTWpreE16VTR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RnFhMUY0YTFKdVJFVXdPVFEyTkRNbE1qSWxOMFFsTWtNbE4wSWxNakp1WVcxbEpUSXlKVE5CSlRJeUpVVTFKVGt3SlRoRUpVVTNKVUUzSlVJd0pUSXlKVEpESlRJeWRIbHdaU1V5TWlVelFTVXlNbk4wY21sdVp5VXlNaVV5UXlVeU1uWmhiSFZsSlRJeUpUTkJKVEl5SlRJeUpUSkRKVEl5WTJGMFpXZHZjbmtsTWpJbE0wRWxNakprWldaaGRXeDBKVEl5SlRKREpUSXlhV1FsTWpJbE0wRWxNakpvYkZKUVkxTlZiR0p0TmpFek9EVXl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kzcFBWRnBLVlVwYVNUSTNOVGcwTXlVeU1pVTNSQ1V5UXlVM1FpVXlNbTVoYldVbE1qSWxNMEVsTWpJbFJUZ2xRa1lsT1VVbFJUWWxPRVVsUVRVbE1qSWxNa01sTWpKMGVYQmxKVEl5SlROQkpUSXliR2x1YXlVeU1pVXlReVV5TW5aaGJIVmxKVEl5SlROQkpUSXlKVEl5SlRKREpUSXlZMkYwWldkdmNua2xNaklsTTBFbE1qSmtaV1poZFd4MEpUSXlKVEpESlRJeWFXUWxNaklsTTBFbE1qSkliRkZ6Y2xSNGVHcDRORGc1T1RReEpUSXlKVGRFSlRKREpUZENKVEl5Ym1GdFpTVXlNaVV6UVNVeU1pVkZOQ1ZDUlNWQ1JpVkZOeVZCUXlWQ1FTVXlNaVV5UXlVeU1uUjVjR1VsTWpJbE0wRWxNakp6ZEhKcGJtY2xNaklsTWtNbE1qSjJZV3gxWlNVeU1pVXpRU1V5TWlVeU1pVXlReVV5TW1OaGRHVm5iM0o1SlRJeUpUTkJKVEl5WkdWbVlYVnNkQ1V5TWlVeVF5VXlNbWxrSlRJeUpUTkJKVEl5UjJOMlMyRnVWVTVVYkRjMU1EUTFNU1V5TWlVM1JDVTFSQ1V5UXlVeU1uQnliM0J6SlRJeUpUTkJKVGRDSlRJeWVDVXlNaVV6UVRRME1TVXlReVV5TW5rbE1qSWxNMEV5T1NVeVF5VXlNbmNsTWpJbE0wRTVOaVV5UXlVeU1tZ2xNaklsTTBFMU5DVXlReVV5TW5wcGJtUmxlQ1V5TWlVelFUR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pwWkdWaE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ZDBaWVZXcDFVbVI2YnpFMk5Ua3dNQ1V5TWlVelFTVTNRaVV5TW1sa0pUSXlKVE5CSlRJeWQwWllWV3AxVW1SNmJ6RTJOVGt3TU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o2UTBsVWVHSk1iV2RrTXpreU5qTXpKVEl5SlRkRUpUSkRKVGRDSlRJeWJtRnRaU1V5TWlVelFTVXlNaVZGTlNVNU1DVTRSQ1ZGTnlWQk55VkNNQ1V5TWlVeVF5VXlNblI1Y0dVbE1qSWxNMEVsTWpKemRISnBibWNsTWpJbE1rTWxNakoyWVd4MVpTVXlNaVV6UVNVeU1pVXlNaVV5UXlVeU1tTmhkR1ZuYjNKNUpUSXlKVE5CSlRJeVpHVm1ZWFZzZENVeU1pVXlReVV5TW1sa0pUSXlKVE5CSlRJeVMzVjZXV1pQVjFWMVl6Y3hORFV6T0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XBYVlVwWlRIVkdkSFkzTWpZMk1ETWxNaklsTjBRbE1rTWxOMElsTWpKdVlXMWxKVEl5SlROQkpUSXlKVVU0SlVKR0pUbEZKVVUySlRoRkpVRTFKVEl5SlRKREpUSXlkSGx3WlNVeU1pVXpRU1V5TW14cGJtc2xNaklsTWtNbE1qSjJZV3gxWlNVeU1pVXpRU1V5TWlVeU1pVXlReVV5TW1OaGRHVm5iM0o1SlRJeUpUTkJKVEl5WkdWbVlYVnNkQ1V5TWlVeVF5VXlNbWxrSlRJeUpUTkJKVEl5Y1ZGclpGQldVVTFQZURJek9UTXpPU1V5TWlVM1JDVXlReVUzUWlVeU1tNWhiV1VsTWpJbE0wRWxNaklsUlRRbFFrVWxRa1lsUlRjbFFVTWxRa0VsTWpJbE1rTWxNakowZVhCbEpUSXlKVE5CSlRJeWMzUnlhVzVuSlRJeUpUSkRKVEl5ZG1Gc2RXVWxNaklsTTBFbE1qSWxNaklsTWtNbE1qSmpZWFJsWjI5eWVTVXlNaVV6UVNVeU1tUmxabUYxYkhRbE1qSWxNa01sTWpKcFpDVXlNaVV6UVNVeU1tNW9XbkY0ZW1sdFZXdzFOelF6TVRRbE1qSWxOMFFsTlVRbE1rTWxNakp3Y205d2N5VXlNaVV6UVNVM1FpVXlNbmdsTWpJbE0wRTBOREVsTWtNbE1qSjVKVEl5SlROQk1UVXhKVEpESlRJeWR5VXlNaVV6UVRrMkpUSkRKVEl5YUNVeU1pVXpRVFUwSlRKREpUSXllbWx1WkdWNEpUSXlKVE5CTWl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rbHVkR1Z5Ym1WMEpUSXdSSEpoWm5R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ZZDIxdlJtOURlRk5UTmpRMk9ERTBKVEl5SlROQkpUZENKVEl5YVdRbE1qSWxNMEVsTWpKWWQyMXZSbTlEZUZOVE5qUTJPREUwSlRJeUpUSkRKVEl5Ym1GdFpTVXlNaVV6UVNVeU1teHBibXRsY2lVeU1pVXlReVV5TW5SbGVIUWxNaklsTTBFbE1qSWxNaklsTWtNbE1qSm5jbTkxY0NVeU1pVXpRU1V5TWlVeU1pVXlReVV5TW14cGJtdGxjbFI1Y0dVbE1qSWxNMEVsTWpKaWNtOXJaVzRsTWpJbE1rTWxNakp3YjJsdWRITWxNaklsTTBFbE5VSWxOMElsTWpKNEpUSXlKVE5CTkRnNUpUSkRKVEl5ZVNVeU1pVXpRVEV4TnlVM1JDVXlReVUzUWlVeU1uZ2xNaklsTTBFME9Ea2xNa01sTWpKNUpUSXlKVE5CTVRFM0pUZEVKVFZFSlRKREpUSXliRzlqYTJWa0pUSXlKVE5CWm1Gc2MyVWxNa01sTWpKa1lYUmhRWFIwY21saWRYUmxjeVV5TWlVelFTVTFRaVUxUkNVeVF5VXlNbkJ5YjNCekpUSXlKVE5CSlRkQ0pUSXllbWx1WkdWNEpUSXlKVE5CTXlVM1JDVXlReVV5TW14cGJtVlRkSGxzWlNVeU1pVXpRU1UzUWlVeU1teHBibVZYYVdSMGFDVXlNaVV6UVRFdU5TVTNSQ1V5UXlVeU1tWnliMjBsTWpJbE0wRWxOMElsTWpKNEpUSXlKVE5CTkRnNUpUSkRKVEl5ZVNVeU1pVXpRVGd6SlRKREpUSXlZVzVuYkdVbE1qSWxNMEUwTGpjeE1qTTRPRGs0TURNNE5EWTVKVEpESlRJeWFXUWxNaklsTTBFbE1qSmhaVzlJU0dGUGVFZHBNamt4TXpVNEpUSXlKVGRFSlRKREpUSXlkRzhsTWpJbE0wRWxOMElsTWpKcFpDVXlNaVV6UVNVeU1uZEdXRlZxZFZKa2VtOHhOalU1TURBbE1qSWxNa01sTWpKNEpUSXlKVE5CTkRnNUpUSkRKVEl5ZVNVeU1pVXpRVEUxTVNVeVF5VXlNbUZ1WjJ4bEpUSXlKVE5CTVM0MU56QTNPVFl6TWpZM09UUTRPVGNsTjBRbE1rTWxNakowWlhoMFFteHZZMnNsTWpJbE0wRWxOVUlsTlVRbE4wUWxNa01sTWpKdmJFVlFSRmwyWm1sQk1UUXhPREF4SlRJeUpUTkJKVGRDSlRJeWFXUWxNaklsTTBFbE1qSnZiRVZRUkZsMlptbEJNVFF4T0RBeE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tGWVdrTnpSbmxNU1U0eE5ESXhOVE1sTWpJbE4wUWxNa01sTjBJbE1qSnVZVzFsSlRJeUpUTkJKVEl5SlVVMUpUa3dKVGhFSlVVM0pVRTNKVUl3SlRJeUpUSkRKVEl5ZEhsd1pTVXlNaVV6UVNVeU1uTjBjbWx1WnlVeU1pVXlReVV5TW5aaGJIVmxKVEl5SlROQkpUSXlKVEl5SlRKREpUSXlZMkYwWldkdmNua2xNaklsTTBFbE1qSmtaV1poZFd4MEpUSXlKVEpESlRJeWFXUWxNaklsTTBFbE1qSmxSMVpWU1UxTVpIbFBNelkzTkRNMk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U1daeGFtaG1ia3hTVGpnek5UUTVPQ1V5TWlVM1JDVXlReVUzUWlVeU1tNWhiV1VsTWpJbE0wRWxNaklsUlRnbFFrWWxPVVVsUlRZbE9FVWxRVFVsTWpJbE1rTWxNakowZVhCbEpUSXlKVE5CSlRJeWJHbHVheVV5TWlVeVF5VXlNblpoYkhWbEpUSXlKVE5CSlRJeUpUSXlKVEpESlRJeVkyRjBaV2R2Y25rbE1qSWxNMEVsTWpKa1pXWmhkV3gwSlRJeUpUSkRKVEl5YVdRbE1qSWxNMEVsTWpKcFNscERiRkp5VVhwcU5Ea3dOalk1SlRJeUpUZEVKVEpESlRkQ0pUSXlibUZ0WlNVeU1pVXpRU1V5TWlWRk5DVkNSU1ZDUmlWRk55VkJReVZDUVNVeU1pVXlReVV5TW5SNWNHVWxNaklsTTBFbE1qSnpkSEpwYm1jbE1qSWxNa01sTWpKMllXeDFaU1V5TWlVelFTVXlNaVV5TWlVeVF5VXlNbU5oZEdWbmIzSjVKVEl5SlROQkpUSXlaR1ZtWVhWc2RDVXlNaVV5UXlVeU1tbGtKVEl5SlROQkpUSXlabUp6Y25OTFoxZHBVVGs0TVRjNU5DVXlNaVUzUkNVMVJDVXlReVV5TW5CeWIzQnpKVEl5SlROQkpUZENKVEl5ZUNVeU1pVXpRVFEwTVNVeVF5VXlNbmtsTWpJbE0wRXlOemtsTWtNbE1qSjNKVEl5SlROQk9UWWxNa01sTWpKb0pUSXlKVE5CTlRRbE1rTWxNako2YVc1a1pYZ2xNaklsTTBFME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UV0ZwYkdsdVp5VXlNRXhwYzNRbE1qQkVhWE5qZFhOemFXOXV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JYZFhTSFZvYW1WWlNUSTVOVGM1TVNVeU1pVXpRU1UzUWlVeU1tbGtKVEl5SlROQkpUSXlSWGRYU0hWb2FtVlpTVEk1TlRjNU1TVXlNaVV5UXlVeU1tNWhiV1VsTWpJbE0wRWxNakpzYVc1clpYSWxNaklsTWtNbE1qSjBaWGgwSlRJeUpUTkJKVEl5SlRJeUpUSkRKVEl5WjNKdmRYQWxNaklsTTBFbE1qSWxNaklsTWtNbE1qSnNhVzVyWlhKVWVYQmxKVEl5SlROQkpUSXlZbkp2YTJWdUpUSXlKVEpESlRJeWNHOXBiblJ6SlRJeUpUTkJKVFZDSlRkQ0pUSXllQ1V5TWlVelFUUTRPU1V5UXlVeU1ua2xNaklsTTBFeU5ESWxOMFFsTWtNbE4wSWxNako0SlRJeUpUTkJORGc1SlRKREpUSXllU1V5TWlVelFUSTBNaVUzUkNVMVJDVXlReVV5TW14dlkydGxaQ1V5TWlVelFXWmhiSE5sSlRKREpUSXlaR0YwWVVGMGRISnBZblYwWlhNbE1qSWxNMEVsTlVJbE5VUWxNa01sTWpKd2NtOXdjeVV5TWlVelFTVTNRaVV5TW5wcGJtUmxlQ1V5TWlVelFUVWxOMFFsTWtNbE1qSnNhVzVsVTNSNWJHVWxNaklsTTBFbE4wSWxNakpzYVc1bFYybGtkR2dsTWpJbE0wRXhMalVsTjBRbE1rTWxNakptY205dEpUSXlKVE5CSlRkQ0pUSXllQ1V5TWlVelFUUTRPU1V5UXlVeU1ua2xNaklsTTBFeU1EVWxNa01sTWpKaGJtZHNaU1V5TWlVelFUUXVOekV5TXpnNE9UZ3dNemcwTmprbE1rTWxNakpwWkNVeU1pVXpRU1V5TW5kR1dGVnFkVkprZW04eE5qVTVNREFsTWpJbE4wUWxNa01sTWpKMGJ5VXlNaVV6UVNVM1FpVXlNbWxrSlRJeUpUTkJKVEl5YjJ4RlVFUlpkbVpwUVRFME1UZ3dNU1V5TWlVeVF5VXlNbmdsTWpJbE0wRTBPRGtsTWtNbE1qSjVKVEl5SlROQk1qYzVKVEpESlRJeVlXNW5iR1VsTWpJbE0wRXhMalUzTURjNU5qTXlOamM1TkRnNU55VTNSQ1V5UXlVeU1uUmxlSFJDYkc5amF5VXlNaVV6UVNVMVFpVTFSQ1UzUkNVeVF5VXlNbXROY0d0YWEwTmpjbVU0TWpFek56QWxNaklsTTBFbE4wSWxNakpwWkNVeU1pVXpRU1V5TW10TmNHdGFhME5qY21VNE1qRXpOekF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kVkppU1ZwMldrbEViek0yT0RFNE5pVXlNaVUzUkNVeVF5VTNRaVV5TW01aGJXVWxNaklsTTBFbE1qSWxSVFVsT1RBbE9FUWxSVGNsUVRjbFFqQWxNaklsTWtNbE1qSjBlWEJsSlRJeUpUTkJKVEl5YzNSeWFXNW5KVEl5SlRKREpUSXlkbUZzZFdVbE1qSWxNMEVsTWpJbE1qSWxNa01sTWpKallYUmxaMjl5ZVNVeU1pVXpRU1V5TW1SbFptRjFiSFFsTWpJbE1rTWxNakpwWkNVeU1pVXpRU1V5TW5aa1ZtTkxaMUZ4VVU4NU5UUTFNRGt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m9hSEZWVTIxclMzQkZNREEyT1RneUpUSXlKVGRFSlRKREpUZENKVEl5Ym1GdFpTVXlNaVV6UVNVeU1pVkZPQ1ZDUmlVNVJTVkZOaVU0UlNWQk5TVXlNaVV5UXlVeU1uUjVjR1VsTWpJbE0wRWxNakpzYVc1ckpUSXlKVEpESlRJeWRtRnNkV1VsTWpJbE0wRWxNaklsTWpJbE1rTWxNakpqWVhSbFoyOXllU1V5TWlVelFTVXlNbVJsWm1GMWJIUWxNaklsTWtNbE1qSnBaQ1V5TWlVelFTVXlNbTV5YWxCQ1oxQm9aMUF6TWpjd01qZ2xNaklsTjBRbE1rTWxOMElsTWpKdVlXMWxKVEl5SlROQkpUSXlKVVUwSlVKRkpVSkdKVVUzSlVGREpVSkJKVEl5SlRKREpUSXlkSGx3WlNVeU1pVXpRU1V5TW5OMGNtbHVaeVV5TWlVeVF5VXlNblpoYkhWbEpUSXlKVE5CSlRJeUpUSXlKVEpESlRJeVkyRjBaV2R2Y25rbE1qSWxNMEVsTWpKa1pXWmhkV3gwSlRJeUpUSkRKVEl5YVdRbE1qSWxNMEVsTWpKUllYTlplR3RWV0dwTk9ERTNORE0wSlRJeUpUZEVKVFZFSlRKREpUSXljSEp2Y0hNbE1qSWxNMEVsTjBJbE1qSjRKVEl5SlROQk5EUXhKVEpESlRJeWVTVXlNaVV6UVRReE1pVXlReVV5TW5jbE1qSWxNMEU1TmlVeVF5VXlNbWdsTWpJbE0wRTFOQ1V5UXlVeU1ucHBibVJsZUNVeU1pVXpRVFl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KWGIzSnJhVzVuSlRJd1IzSnZkWEFsTWpCQlpHOXdkR2x2Ym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nBLWjJ0cWRFeHpTMWsxT0RrM05EQWxNaklsTTBFbE4wSWxNakpwWkNVeU1pVXpRU1V5TW5wS1oydHFkRXh6UzFrMU9EazNOREFsTWpJbE1rTWxNakp1WVcxbEpUSXlKVE5CSlRJeWJHbHVhMlZ5SlRJeUpUSkRKVEl5ZEdWNGRDVXlNaVV6UVNVeU1pVXlNaVV5UXlVeU1tZHliM1Z3SlRJeUpUTkJKVEl5SlRJeUpUSkRKVEl5YkdsdWEyVnlWSGx3WlNVeU1pVXpRU1V5TW1KeWIydGxiaVV5TWlVeVF5VXlNbkJ2YVc1MGN5VXlNaVV6UVNVMVFpVTNRaVV5TW5nbE1qSWxNMEUwT0RrbE1rTWxNako1SlRJeUpUTkJNemN5TGpVbE4wUWxNa01sTjBJbE1qSjRKVEl5SlROQk5EZzVKVEpESlRJeWVTVXlNaVV6UVRNM01pNDFKVGRFSlRWRUpUSkRKVEl5Ykc5amEyVmtKVEl5SlROQlptRnNjMlVsTWtNbE1qSmtZWFJoUVhSMGNtbGlkWFJsY3lVeU1pVXpRU1UxUWlVMVJDVXlReVV5TW5CeWIzQnpKVEl5SlROQkpUZENKVEl5ZW1sdVpHVjRKVEl5SlROQk55VTNSQ1V5UXlVeU1teHBibVZUZEhsc1pTVXlNaVV6UVNVM1FpVXlNbXhwYm1WWGFXUjBhQ1V5TWlVelFURXVOU1UzUkNVeVF5VXlNbVp5YjIwbE1qSWxNMEVsTjBJbE1qSjRKVEl5SlROQk5EZzVKVEpESlRJeWVTVXlNaVV6UVRNek15VXlReVV5TW1GdVoyeGxKVEl5SlROQk5DNDNNVEl6T0RnNU9EQXpPRFEyT1NVeVF5VXlNbWxrSlRJeUpUTkJKVEl5YjJ4RlVFUlpkbVpwUVRFME1UZ3dNU1V5TWlVM1JDVXlReVV5TW5SdkpUSXlKVE5CSlRkQ0pUSXlhV1FsTWpJbE0wRWxNakpyVFhCcldtdERZM0psT0RJeE16Y3dKVEl5SlRKREpUSXllQ1V5TWlVelFUUTRPU1V5UXlVeU1ua2xNaklsTTBFME1USWxNa01sTWpKaGJtZHNaU1V5TWlVelFURXVOVGN3TnprMk16STJOemswT0RrM0pUZEVKVEpESlRJeWRHVjRkRUpzYjJOckpUSXlKVE5CSlRWQ0pUVkVKVGRFSlRKREpUSXlaMmh2VDBSRFRYbG1aelk0T1RrNU15VXlNaVV6UVNVM1FpVXlNbWxrSlRJeUpUTkJKVEl5WjJodlQwUkRUWGxtWnpZNE9UazVN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lWM2xzWmtwUFNrVlZPVGcyTVRNMkpUSXlKVGRFSlRKREpUZENKVEl5Ym1GdFpTVXlNaVV6UVNVeU1pVkZOU1U1TUNVNFJDVkZOeVZCTnlWQ01DVXlNaVV5UXlVeU1uUjVjR1VsTWpJbE0wRWxNakp6ZEhKcGJtY2xNaklsTWtNbE1qSjJZV3gxWlNVeU1pVXpRU1V5TWlVeU1pVXlReVV5TW1OaGRHVm5iM0o1SlRJeUpUTkJKVEl5WkdWbVlYVnNkQ1V5TWlVeVF5VXlNbWxrSlRJeUpUTkJKVEl5ZFhad2EwTlpiM05DYnpjeE1EQTRO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ucGpWbFJ5YTBOV2FsSXdOVGc0TlRnbE1qSWxOMFFsTWtNbE4wSWxNakp1WVcxbEpUSXlKVE5CSlRJeUpVVTRKVUpHSlRsRkpVVTJKVGhGSlVFMUpUSXlKVEpESlRJeWRIbHdaU1V5TWlVelFTVXlNbXhwYm1zbE1qSWxNa01sTWpKMllXeDFaU1V5TWlVelFTVXlNaVV5TWlVeVF5VXlNbU5oZEdWbmIzSjVKVEl5SlROQkpUSXlaR1ZtWVhWc2RDVXlNaVV5UXlVeU1tbGtKVEl5SlROQkpUSXlUbVpvYVZwVmNFcEpRakUwTmpnM05pVXlNaVUzUkNVeVF5VTNRaVV5TW01aGJXVWxNaklsTTBFbE1qSWxSVFFsUWtVbFFrWWxSVGNsUVVNbFFrRWxNaklsTWtNbE1qSjBlWEJsSlRJeUpUTkJKVEl5YzNSeWFXNW5KVEl5SlRKREpUSXlkbUZzZFdVbE1qSWxNMEVsTWpJbE1qSWxNa01sTWpKallYUmxaMjl5ZVNVeU1pVXpRU1V5TW1SbFptRjFiSFFsTWpJbE1rTWxNakpwWkNVeU1pVXpRU1V5TW01MVJsSk5UV2RhV1ZJM09ERTJOamNsTWpJbE4wUWxOVVFsTWtNbE1qSndjbTl3Y3lVeU1pVXpRU1UzUWlVeU1uZ2xNaklsTTBFME5ERWxNa01sTWpKNUpUSXlKVE5CTlRRMUpUSkRKVEl5ZHlVeU1pVXpRVGsySlRKREpUSXlhQ1V5TWlVelFUVTBKVEpESlRJeWVtbHVaR1Y0SlRJeUpUTkJPQ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sxdmNtVWxNakJFYVhOamRYTnphVzl1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UM1puYUdwcFkxSlpiakl6TXpReU15VXlNaVV6UVNVM1FpVXlNbWxrSlRJeUpUTkJKVEl5VDNabmFHcHBZMUpaYmpJek16UXlN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Jaa2x4Ym0xNVZHVmxOak14TkRVekpUSXlKVGRFSlRKREpUZENKVEl5Ym1GdFpTVXlNaVV6UVNVeU1pVkZOU1U1TUNVNFJDVkZOeVZCTnlWQ01DVXlNaVV5UXlVeU1uUjVjR1VsTWpJbE0wRWxNakp6ZEhKcGJtY2xNaklsTWtNbE1qSjJZV3gxWlNVeU1pVXpRU1V5TWlVeU1pVXlReVV5TW1OaGRHVm5iM0o1SlRJeUpUTkJKVEl5WkdWbVlYVnNkQ1V5TWlVeVF5VXlNbWxrSlRJeUpUTkJKVEl5VkhSNldFMTZiV0pCZERZeU1UWXdOa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taGxhMGxaVDI1blowVXpOVFExTXpnbE1qSWxOMFFsTWtNbE4wSWxNakp1WVcxbEpUSXlKVE5CSlRJeUpVVTRKVUpHSlRsRkpVVTJKVGhGSlVFMUpUSXlKVEpESlRJeWRIbHdaU1V5TWlVelFTVXlNbXhwYm1zbE1qSWxNa01sTWpKMllXeDFaU1V5TWlVelFTVXlNaVV5TWlVeVF5VXlNbU5oZEdWbmIzSjVKVEl5SlROQkpUSXlaR1ZtWVhWc2RDVXlNaVV5UXlVeU1tbGtKVEl5SlROQkpUSXlTMVJMY2xkUlQyRjZXREV6TnpZNU5DVXlNaVUzUkNVeVF5VTNRaVV5TW01aGJXVWxNaklsTTBFbE1qSWxSVFFsUWtVbFFrWWxSVGNsUVVNbFFrRWxNaklsTWtNbE1qSjBlWEJsSlRJeUpUTkJKVEl5YzNSeWFXNW5KVEl5SlRKREpUSXlkbUZzZFdVbE1qSWxNMEVsTWpJbE1qSWxNa01sTWpKallYUmxaMjl5ZVNVeU1pVXpRU1V5TW1SbFptRjFiSFFsTWpJbE1rTWxNakpwWkNVeU1pVXpRU1V5TWxOcVJuaGlRbXAxZWxrMk9ETTROVFVsTWpJbE4wUWxOVVFsTWtNbE1qSndjbTl3Y3lVeU1pVXpRU1UzUWlVeU1uZ2xNaklsTTBFME5ERWxNa01sTWpKNUpUSXlKVE5CTmpjNEpUSkRKVEl5ZHlVeU1pVXpRVGsySlRKREpUSXlhQ1V5TWlVelFUVTBKVEpESlRJeWVtbHVaR1Y0SlRJeUpUTkJP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xKR1F5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taSWJtTmliSEpZWVVFek5USTNOREFsTWpJbE0wRWxOMElsTWpKcFpDVXlNaVV6UVNVeU1rWklibU5pYkhKWVlVRXpOVEkzTkRBbE1qSWxNa01sTWpKdVlXMWxKVEl5SlROQkpUSXliR2x1YTJWeUpUSXlKVEpESlRJeWRHVjRkQ1V5TWlVelFTVXlNaVV5TWlVeVF5VXlNbWR5YjNWd0pUSXlKVE5CSlRJeUpUSXlKVEpESlRJeWJHbHVhMlZ5Vkhsd1pTVXlNaVV6UVNVeU1tSnliMnRsYmlVeU1pVXlReVV5TW5CdmFXNTBjeVV5TWlVelFTVTFRaVUzUWlVeU1uZ2xNaklsTTBFME9Ea2xNa01sTWpKNUpUSXlKVE5CTlRBMUxqVWxOMFFsTWtNbE4wSWxNako0SlRJeUpUTkJORGc1SlRKREpUSXllU1V5TWlVelFUVXdOUzQxSlRkRUpUVkVKVEpESlRJeWJHOWphMlZrSlRJeUpUTkJabUZzYzJVbE1rTWxNakprWVhSaFFYUjBjbWxpZFhSbGN5VXlNaVV6UVNVMVFpVTFSQ1V5UXlVeU1uQnliM0J6SlRJeUpUTkJKVGRDSlRJeWVtbHVaR1Y0SlRJeUpUTkJNVEFsTjBRbE1rTWxNakpzYVc1bFUzUjViR1VsTWpJbE0wRWxOMElsTWpKc2FXNWxWMmxrZEdnbE1qSWxNMEV4TGpVbE4wUWxNa01sTWpKbWNtOXRKVEl5SlROQkpUZENKVEl5ZUNVeU1pVXpRVFE0T1NVeVF5VXlNbmtsTWpJbE0wRTBOallsTWtNbE1qSmhibWRzWlNVeU1pVXpRVFF1TnpFeU16ZzRPVGd3TXpnME5qa2xNa01sTWpKcFpDVXlNaVV6UVNVeU1tdE5jR3RhYTBOamNtVTRNakV6TnpBbE1qSWxOMFFsTWtNbE1qSjBieVV5TWlVelFTVTNRaVV5TW1sa0pUSXlKVE5CSlRJeVoyaHZUMFJEVFhsbVp6WTRPVGs1TXlVeU1pVXlReVV5TW5nbE1qSWxNMEUwT0RrbE1rTWxNako1SlRJeUpUTkJOVFExSlRKREpUSXlZVzVuYkdVbE1qSWxNMEV4TGpVM01EYzVOak15TmpjNU5EZzVOeVUzUkNVeVF5VXlNblJsZUhSQ2JHOWpheVV5TWlVelFTVTFRaVUxUkNVM1JDVXlReVV5TWs1T1VWZDJaRnBaYTA4ek16RTFNREVsTWpJbE0wRWxOMElsTWpKcFpDVXlNaVV6UVNVeU1rNU9VVmQyWkZwWmEwOHpNekUxTURFbE1qSWxNa01sTWpKdVlXMWxKVEl5SlROQkpUSXliR2x1YTJWeUpUSXlKVEpESlRJeWRHVjRkQ1V5TWlVelFTVXlNaVV5TWlVeVF5VXlNbWR5YjNWd0pUSXlKVE5CSlRJeUpUSXlKVEpESlRJeWJHbHVhMlZ5Vkhsd1pTVXlNaVV6UVNVeU1tSnliMnRsYmlVeU1pVXlReVV5TW5CdmFXNTBjeVV5TWlVelFTVTFRaVUzUWlVeU1uZ2xNaklsTTBFME9Ea2xNa01sTWpKNUpUSXlKVE5CTmpNNExqVWxOMFFsTWtNbE4wSWxNako0SlRJeUpUTkJORGc1SlRKREpUSXllU1V5TWlVelFUWXpPQzQxSlRkRUpUVkVKVEpESlRJeWJHOWphMlZrSlRJeUpUTkJabUZzYzJVbE1rTWxNakprWVhSaFFYUjBjbWxpZFhSbGN5VXlNaVV6UVNVMVFpVTFSQ1V5UXlVeU1uQnliM0J6SlRJeUpUTkJKVGRDSlRJeWVtbHVaR1Y0SlRJeUpUTkJNVEVsTjBRbE1rTWxNakpzYVc1bFUzUjViR1VsTWpJbE0wRWxOMElsTWpKc2FXNWxWMmxrZEdnbE1qSWxNMEV4TGpVbE4wUWxNa01sTWpKbWNtOXRKVEl5SlROQkpUZENKVEl5ZUNVeU1pVXpRVFE0T1NVeVF5VXlNbmtsTWpJbE0wRTFPVGtsTWtNbE1qSmhibWRzWlNVeU1pVXpRVFF1TnpFeU16ZzRPVGd3TXpnME5qa2xNa01sTWpKcFpDVXlNaVV6UVNVeU1tZG9iMDlFUTAxNVptYzJPRGs1T1RNbE1qSWxOMFFsTWtNbE1qSjBieVV5TWlVelFTVTNRaVV5TW1sa0pUSXlKVE5CSlRJeVQzWm5hR3BwWTFKWmJqSXpNelF5TXlVeU1pVXlReVV5TW5nbE1qSWxNMEUwT0RrbE1rTWxNako1SlRJeUpUTkJOamM0SlRKREpUSXlZVzVuYkdVbE1qSWxNMEV4TGpVM01EYzVOak15TmpjNU5EZzVOeVUzUkNVeVF5VXlNblJsZUhSQ2JHOWpheVV5TWlVelFTVTFRaVUxUkNVM1JDVXlReVV5TWxkQmIwRnlZbWx6VUVnME9ESXhORElsTWpJbE0wRWxOMElsTWpKcFpDVXlNaVV6UVNVeU1sZEJiMEZ5WW1selVFZzBPREl4TkRJbE1qSWxNa01sTWpKdVlXMWxKVEl5SlROQkpUSXliR2x1YTJWeUpUSXlKVEpESlRJeWRHVjRkQ1V5TWlVelFTVXlNaVV5TWlVeVF5VXlNbWR5YjNWd0pUSXlKVE5CSlRJeUpUSXlKVEpESlRJeWJHbHVhMlZ5Vkhsd1pTVXlNaVV6UVNVeU1tSnliMnRsYmlVeU1pVXlReVV5TW5CdmFXNTBjeVV5TWlVelFTVTFRaVUzUWlVeU1uZ2xNaklsTTBFMU9UTWxNa01sTWpKNUpUSXlKVE5CTVRjNEpUZEVKVEpESlRkQ0pUSXllQ1V5TWlVelFUVTVNeVV5UXlVeU1ua2xNaklsTTBFeE56Z2xOMFFsTlVRbE1rTWxNakpzYjJOclpXUWxNaklsTTBGbVlXeHpaU1V5UXlVeU1tUmhkR0ZCZEhSeWFXSjFkR1Z6SlRJeUpUTkJKVFZDSlRWRUpUSkRKVEl5Y0hKdmNITWxNaklsTTBFbE4wSWxNako2YVc1a1pYZ2xNaklsTTBFeE1pVTNSQ1V5UXlVeU1teHBibVZUZEhsc1pTVXlNaVV6UVNVM1FpVXlNbXhwYm1WWGFXUjBhQ1V5TWlVelFURXVOU1UzUkNVeVF5VXlNbVp5YjIwbE1qSWxNMEVsTjBJbE1qSjRKVEl5SlROQk5UTTNKVEpESlRJeWVTVXlNaVV6UVRFM09DVXlReVV5TW1GdVoyeGxKVEl5SlROQk15NHhOREUxT1RJMk5UTTFPRGszT1RNMkpUSkRKVEl5YVdRbE1qSWxNMEVsTWpKM1JsaFZhblZTWkhwdk1UWTFPVEF3SlRJeUpUZEVKVEpESlRJeWRHOGxNaklsTTBFbE4wSWxNakpwWkNVeU1pVXpRU1V5TWs5NVVVUnBTMGRLYjFjNU5UUXhNRGNsTWpJbE1rTWxNako0SlRJeUpUTkJOalE1SlRKREpUSXllU1V5TWlVelFURTNPQ1V5UXlVeU1tRnVaMnhsSlRJeUpUTkJNQ1UzUkNVeVF5VXlNblJsZUhSQ2JHOWpheVV5TWlVelFTVTFRaVUxUkNVM1JDVXlReVV5TWs5NVVVUnBTMGRLYjFjNU5UUXhNRGNsTWpJbE0wRWxOMElsTWpKcFpDVXlNaVV6UVNVeU1rOTVVVVJwUzBkS2IxYzVOVFF4TURjbE1qSWxNa01sTWpKdVlXMWxKVEl5SlROQkpUSXlkR1Y0ZENVeU1pVXlReVV5TW5ScGRHeGxKVEl5SlROQkpUSXlKVVUySlRrMkpUZzNKVVUySlRsREpVRkR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VnhjVXRUVjBwSVdGWTJNemsxTURjbE1qSWxOMFFsTWtNbE4wSWxNakp1WVcxbEpUSXlKVE5CSlRJeUpVVTFKVGt3SlRoRUpVVTNKVUUzSlVJd0pUSXlKVEpESlRJeWRIbHdaU1V5TWlVelFTVXlNbk4wY21sdVp5VXlNaVV5UXlVeU1uWmhiSFZsSlRJeUpUTkJKVEl5SlRJeUpUSkRKVEl5WTJGMFpXZHZjbmtsTWpJbE0wRWxNakprWldaaGRXeDBKVEl5SlRKREpUSXlhV1FsTWpJbE0wRWxNakpWV2s5MFVYTmtZMGxTTnpZM016VTB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RreDRjMDlTYmtOWlZEazJPVGs1T1NVeU1pVTNSQ1V5UXlVM1FpVXlNbTVoYldVbE1qSWxNMEVsTWpJbFJUZ2xRa1lsT1VVbFJUWWxPRVVsUVRVbE1qSWxNa01sTWpKMGVYQmxKVEl5SlROQkpUSXliR2x1YXlVeU1pVXlReVV5TW5aaGJIVmxKVEl5SlROQkpUSXlKVEl5SlRKREpUSXlZMkYwWldkdmNua2xNaklsTTBFbE1qSmtaV1poZFd4MEpUSXlKVEpESlRJeWFXUWxNaklsTTBFbE1qSnlWR04yVlhaMVVHUmpORGd6TURnMUpUSXlKVGRFSlRKREpUZENKVEl5Ym1GdFpTVXlNaVV6UVNVeU1pVkZOQ1ZDUlNWQ1JpVkZOeVZCUXlWQ1FTVXlNaVV5UXlVeU1uUjVjR1VsTWpJbE0wRWxNakp6ZEhKcGJtY2xNaklsTWtNbE1qSjJZV3gxWlNVeU1pVXpRU1V5TWlVeU1pVXlReVV5TW1OaGRHVm5iM0o1SlRJeUpUTkJKVEl5WkdWbVlYVnNkQ1V5TWlVeVF5VXlNbWxrSlRJeUpUTkJKVEl5VUhwaVMyZFZVbkY1ZVRJMU56WTJOaVV5TWlVM1JDVTFSQ1V5UXlVeU1uQnliM0J6SlRJeUpUTkJKVGRDSlRJeWVDVXlNaVV6UVRZME9TVXlReVV5TW5rbE1qSWxNMEV4TlRnbE1rTWxNakozSlRJeUpUTkJNVFF3SlRKREpUSXlhQ1V5TWlVelFUUXdKVEpESlRJeWVtbHVaR1Y0SlRJeUpUTkJNVE1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iR2x1WlZOMGVXeGxKVEl5SlROQkpUZENKVEl5YkdsdVpWZHBaSFJvSlRJeUpUTkJNQ1UzUkNVeVF5VXlNbVpwYkd4VGRIbHNaU1V5TWlVelFTVTNRaVV5TW5SNWNHVWxNaklsTTBFbE1qSnViMjVsSlRJeUpUZEVKVEpE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3SlRKREpUSXllU1V5TWlVelFUQWxNa01sTWpKM0pUSXlKVE5CSlRJeWR5VXlNaVV5UXlVeU1tZ2xNaklsTTBFbE1qSm9KVEl5SlRkRUpUSkRKVEl5ZEdWNGRDVXlNaVV6UVNVeU1tUnlZV1owTFdoMVlYZGxhUzF4ZFdsakxUQXh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QyMURlVU4yU2s1TmJUSXpPRGN5T1NVeU1pVXpRU1UzUWlVeU1tbGtKVEl5SlROQkpUSXlkMjFEZVVOMlNrNU5iVEl6T0RjeU9TVXlNaVV5UXlVeU1tNWhiV1VsTWpJbE0wRWxNakpzYVc1clpYSWxNaklsTWtNbE1qSjBaWGgwSlRJeUpUTkJKVEl5SlRJeUpUSkRKVEl5WjNKdmRYQWxNaklsTTBFbE1qSWxNaklsTWtNbE1qSnNhVzVyWlhKVWVYQmxKVEl5SlROQkpUSXlZbkp2YTJWdUpUSXlKVEpESlRJeWNHOXBiblJ6SlRJeUpUTkJKVFZDSlRkQ0pUSXllQ1V5TWlVelFUVTVNeVV5UXlVeU1ua2xNaklsTTBFek1EWWxOMFFsTWtNbE4wSWxNako0SlRJeUpUTkJOVGt6SlRKREpUSXllU1V5TWlVelFUTXdOaVUzUkNVMVJDVXlReVV5TW14dlkydGxaQ1V5TWlVelFXWmhiSE5sSlRKREpUSXlaR0YwWVVGMGRISnBZblYwWlhNbE1qSWxNMEVsTlVJbE5VUWxNa01sTWpKd2NtOXdjeVV5TWlVelFTVTNRaVV5TW5wcGJtUmxlQ1V5TWlVelFURTBKVGRFSlRKREpUSXliR2x1WlZOMGVXeGxKVEl5SlROQkpUZENKVEl5YkdsdVpWZHBaSFJvSlRJeUpUTkJNUzQxSlRkRUpUSkRKVEl5Wm5KdmJTVXlNaVV6UVNVM1FpVXlNbmdsTWpJbE0wRTFNemNsTWtNbE1qSjVKVEl5SlROQk16QTJKVEpESlRJeVlXNW5iR1VsTWpJbE0wRXpMakUwTVRVNU1qWTFNelU0T1RjNU16WWxNa01sTWpKcFpDVXlNaVV6UVNVeU1tOXNSVkJFV1habWFVRXhOREU0TURFbE1qSWxOMFFsTWtNbE1qSjBieVV5TWlVelFTVTNRaVV5TW1sa0pUSXlKVE5CSlRJeVluaFNUMVZ4WTJkdmJEYzNOakF6TVNVeU1pVXlReVV5TW5nbE1qSWxNMEUyTkRrbE1rTWxNako1SlRJeUpUTkJNekEySlRKREpUSXlZVzVuYkdVbE1qSWxNMEV3SlRkRUpUSkRKVEl5ZEdWNGRFSnNiMk5ySlRJeUpUTkJKVFZDSlRWRUpUZEVKVEpESlRJeVluaFNUMVZ4WTJkdmJEYzNOakF6TVNVeU1pVXpRU1UzUWlVeU1tbGtKVEl5SlROQkpUSXlZbmhTVDFWeFkyZHZiRGMzTmpBek1TVXlNaVV5UXlVeU1tNWhiV1VsTWpJbE0wRWxNakowWlhoMEpUSXlKVEpESlRJeWRHbDBiR1VsTWpJbE0wRWxNaklsUlRZbE9UWWxPRGNsUlRZbE9VTWxRVU1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aVTlTYzB4aFUxaEdlVEV3TWpBek1pVXlNaVUzUkNVeVF5VTNRaVV5TW01aGJXVWxNaklsTTBFbE1qSWxSVFVsT1RBbE9FUWxSVGNsUVRjbFFqQWxNaklsTWtNbE1qSjBlWEJsSlRJeUpUTkJKVEl5YzNSeWFXNW5KVEl5SlRKREpUSXlkbUZzZFdVbE1qSWxNMEVsTWpJbE1qSWxNa01sTWpKallYUmxaMjl5ZVNVeU1pVXpRU1V5TW1SbFptRjFiSFFsTWpJbE1rTWxNakpwWkNVeU1pVXpRU1V5TW1ObGVXRnRlbHAzV0dnME9URTFNVEl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jVVM3BLY0hGUVYyaDNOVGs0TXpZM0pUSXlKVGRFSlRKREpUZENKVEl5Ym1GdFpTVXlNaVV6UVNVeU1pVkZPQ1ZDUmlVNVJTVkZOaVU0UlNWQk5TVXlNaVV5UXlVeU1uUjVjR1VsTWpJbE0wRWxNakpzYVc1ckpUSXlKVEpESlRJeWRtRnNkV1VsTWpJbE0wRWxNaklsTWpJbE1rTWxNakpqWVhSbFoyOXllU1V5TWlVelFTVXlNbVJsWm1GMWJIUWxNaklsTWtNbE1qSnBaQ1V5TWlVelFTVXlNbXRPUWxSUWJVWk9hRWMxTmpnek16VWxNaklsTjBRbE1rTWxOMElsTWpKdVlXMWxKVEl5SlROQkpUSXlKVVUwSlVKRkpVSkdKVVUzSlVGREpVSkJKVEl5SlRKREpUSXlkSGx3WlNVeU1pVXpRU1V5TW5OMGNtbHVaeVV5TWlVeVF5VXlNblpoYkhWbEpUSXlKVE5CSlRJeUpUSXlKVEpESlRJeVkyRjBaV2R2Y25rbE1qSWxNMEVsTWpKa1pXWmhkV3gwSlRJeUpUSkRKVEl5YVdRbE1qSWxNMEVsTWpKUmFrcG5WbEJQYmxCSU56QTJNekl4SlRJeUpUZEVKVFZFSlRKREpUSXljSEp2Y0hNbE1qSWxNMEVsTjBJbE1qSjRKVEl5SlROQk5qUTVKVEpESlRJeWVTVXlNaVV6UVRJek15VXlReVV5TW5jbE1qSWxNMEV4TVRZbE1rTWxNakpvSlRJeUpUTkJNVFEySlRKREpUSXllbWx1WkdWNEpUSXlKVE5CTVRV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YkdsdVpWTjBlV3hsSlRJeUpUTkJKVGRDSlRJeWJHbHVaVmRwWkhSb0pUSXlKVE5CTUNVM1JDVXlReVV5TW1acGJHeFRkSGxzWlNVeU1pVXpRU1UzUWlVeU1uUjVjR1VsTWpJbE0wRWxNakp1YjI1bEpUSXlKVGRFSlRKRE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d0pUSkRKVEl5ZVNVeU1pVXpRVEFsTWtNbE1qSjNKVEl5SlROQkpUSXlkeVV5TWlVeVF5VXlNbWdsTWpJbE0wRWxNakpvSlRJeUpUZEVKVEpESlRJeWRHVjRkQ1V5TWlVelFTVXlNa05wYzJOdkpUTkRZbklsTTBVbE0wTmljaVV6UlVkdmIyZHNaU1V6UTJKeUpUTkZKVE5EWW5JbE0wVkRiRzkxWkdac1lYSmxKVE5EWW5JbE0wVWxNME5pY2lVelJVRndjR3hsSlRORFluSWxNMFVsTTBOaWNpVXpSVTFwWTNKdmMyOW1k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raHRlbVpLYjFGdlFWQTFNakU1TXpBbE1qSWxNMEVsTjBJbE1qSnBaQ1V5TWlVelFTVXlNa2h0ZW1aS2IxRnZRVkExTWpFNU16QWxNaklsTWtNbE1qSnVZVzFsSlRJeUpUTkJKVEl5YkdsdWEyVnlKVEl5SlRKREpUSXlkR1Y0ZENVeU1pVXpRU1V5TWlVeU1pVXlReVV5TW1keWIzVndKVEl5SlROQkpUSXlKVEl5SlRKREpUSXliR2x1YTJWeVZIbHdaU1V5TWlVelFTVXlNbUp5YjJ0bGJpVXlNaVV5UXlVeU1uQnZhVzUwY3lVeU1pVXpRU1UxUWlVM1FpVXlNbmdsTWpJbE0wRXpOelV1TlNVeVF5VXlNbmtsTWpJbE0wRTBNemtsTjBRbE1rTWxOMElsTWpKNEpUSXlKVE5CTXpjMUxqVWxNa01sTWpKNUpUSXlKVE5CTkRNNUpUZEVKVFZFSlRKREpUSXliRzlqYTJWa0pUSXlKVE5CWm1Gc2MyVWxNa01sTWpKa1lYUmhRWFIwY21saWRYUmxjeVV5TWlVelFTVTFRaVUxUkNVeVF5VXlNbkJ5YjNCekpUSXlKVE5CSlRkQ0pUSXllbWx1WkdWNEpUSXlKVE5CTVRZbE4wUWxNa01sTWpKc2FXNWxVM1I1YkdVbE1qSWxNMEVsTjBJbE1qSnNhVzVsVjJsa2RHZ2xNaklsTTBFeExqVWxOMFFsTWtNbE1qSm1jbTl0SlRJeUpUTkJKVGRDSlRJeWVDVXlNaVV6UVRRME1TVXlReVV5TW5rbE1qSWxNMEUwTXprbE1rTWxNakpoYm1kc1pTVXlNaVV6UVRBbE1rTWxNakpwWkNVeU1pVXpRU1V5TW10TmNHdGFhME5qY21VNE1qRXpOekFsTWpJbE4wUWxNa01sTWpKMGJ5VXlNaVV6UVNVM1FpVXlNbWxrSlRJeUpUTkJKVEl5VDJOYVRrSnZSbUZCVURjM056YzVPU1V5TWlVeVF5VXlNbmdsTWpJbE0wRXpNVEFsTWtNbE1qSjVKVEl5SlROQk5ETTVKVEpESlRJeVlXNW5iR1VsTWpJbE0wRXpMakUwTVRVNU1qWTFNelU0T1RjNU16WWxOMFFsTWtNbE1qSjBaWGgwUW14dlkyc2xNaklsTTBFbE5VSWxOVVFsTjBRbE1rTWxNakpQWTFwT1FtOUdZVUZRTnpjM056azVKVEl5SlROQkpUZENKVEl5YVdRbE1qSWxNMEVsTWpKUFkxcE9RbTlHWVVGUU56YzNOems1SlRJeUpUSkRKVEl5Ym1GdFpTVXlNaVV6UVNVeU1uUmxlSFFsTWpJbE1rTWxNakowYVhSc1pTVXlNaVV6UVNVeU1pVkZOaVU1TmlVNE55VkZOaVU1UXlWQlF5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TlJrUmpZa3hUUlc1ak9USTJPRFV4SlRJeUpUZEVKVEpESlRkQ0pUSXlibUZ0WlNVeU1pVXpRU1V5TWlWRk5TVTVNQ1U0UkNWRk55VkJOeVZDTUNVeU1pVXlReVV5TW5SNWNHVWxNaklsTTBFbE1qSnpkSEpwYm1jbE1qSWxNa01sTWpKMllXeDFaU1V5TWlVelFTVXlNaVV5TWlVeVF5VXlNbU5oZEdWbmIzSjVKVEl5SlROQkpUSXlaR1ZtWVhWc2RDVXlNaVV5UXlVeU1tbGtKVEl5SlROQkpUSXlka0pKUTFwR2RrVnFSak0zTnpnek5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1kWWJHZFpZMjlrZDFZd05qazJOellsTWpJbE4wUWxNa01sTjBJbE1qSnVZVzFsSlRJeUpUTkJKVEl5SlVVNEpVSkdKVGxGSlVVMkpUaEZKVUUxSlRJeUpUSkRKVEl5ZEhsd1pTVXlNaVV6UVNVeU1teHBibXNsTWpJbE1rTWxNakoyWVd4MVpTVXlNaVV6UVNVeU1pVXlNaVV5UXlVeU1tTmhkR1ZuYjNKNUpUSXlKVE5CSlRJeVpHVm1ZWFZzZENVeU1pVXlReVV5TW1sa0pUSXlKVE5CSlRJeWJWUktUbk5KY2taa1RUWXdNamd4TnlVeU1pVTNSQ1V5UXlVM1FpVXlNbTVoYldVbE1qSWxNMEVsTWpJbFJUUWxRa1VsUWtZbFJUY2xRVU1sUWtFbE1qSWxNa01sTWpKMGVYQmxKVEl5SlROQkpUSXljM1J5YVc1bkpUSXlKVEpESlRJeWRtRnNkV1VsTWpJbE0wRWxNaklsTWpJbE1rTWxNakpqWVhSbFoyOXllU1V5TWlVelFTVXlNbVJsWm1GMWJIUWxNaklsTWtNbE1qSnBaQ1V5TWlVelFTVXlNbTFXYWtselFtbHZjVVl3TnpJd01UQWxNaklsTjBRbE5VUWxNa01sTWpKd2NtOXdjeVV5TWlVelFTVTNRaVV5TW5nbE1qSWxNMEV4TmpNbE1rTWxNako1SlRJeUpUTkJOREEyTGpVbE1rTWxNakozSlRJeUpUTkJNVFEzSlRKREpUSXlhQ1V5TWlVelFUWTFKVEpESlRJeWVtbHVaR1Y0SlRJeUpUTkJNVGN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iR2x1WlZOMGVXeGxKVEl5SlROQkpUZENKVEl5YkdsdVpWZHBaSFJvSlRJeUpUTkJNQ1UzUkNVeVF5VXlNbVpwYkd4VGRIbHNaU1V5TWlVelFTVTNRaVV5TW5SNWNHVWxNaklsTTBFbE1qSnViMjVsSlRJeUpUZEVKVEpE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3SlRKREpUSXllU1V5TWlVelFUQWxNa01sTWpKM0pUSXlKVE5CSlRJeWR5VXlNaVV5UXlVeU1tZ2xNaklsTTBFbE1qSm9KVEl5SlRkRUpUSkRKVEl5ZEdWNGRDVXlNaVV6UVNVeU1rRnliM1Z1WkNVeU1ESXdKVEkxSlRJd2IyWWxNakJrY21GbWRITWxNakJoY21VbE1qQmhaRzl3ZEdWa0pUSXdZbmtsTWpCaEpUSXdWMGN1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XSGRNVEdSYVpuTkplRFF5TVRRd015VXlNaVV6UVNVM1FpVXlNbWxrSlRJeUpUTkJKVEl5V0hkTVRHUmFabk5KZURReU1UUXdNeVV5TWlVeVF5VXlNbTVoYldVbE1qSWxNMEVsTWpKMFpYaDBKVEl5SlRKREpUSXlkR2wwYkdVbE1qSWxNMEVsTWpJbFJUWWxPVFlsT0RjbFJUWWxPVU1sUVVN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UjNKUWJtWlJaa2hUU2pVNU1qazFNU1V5TWlVM1JDVXlReVUzUWlVeU1tNWhiV1VsTWpJbE0wRWxNaklsUlRVbE9UQWxPRVFsUlRjbFFUY2xRakFsTWpJbE1rTWxNakowZVhCbEpUSXlKVE5CSlRJeWMzUnlhVzVuSlRJeUpUSkRKVEl5ZG1Gc2RXVWxNaklsTTBFbE1qSWxNaklsTWtNbE1qSmpZWFJsWjI5eWVTVXlNaVV6UVNVeU1tUmxabUYxYkhRbE1qSWxNa01sTWpKcFpDVXlNaVV6UVNVeU1rbFpZVmxEVWxCWVNIZzNOakF5TlRn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pVjFKcVRsQlVibWhETVRZek5UYzNKVEl5SlRkRUpUSkRKVGRDSlRJeWJtRnRaU1V5TWlVelFTVXlNaVZGT0NWQ1JpVTVSU1ZGTmlVNFJTVkJOU1V5TWlVeVF5VXlNblI1Y0dVbE1qSWxNMEVsTWpKc2FXNXJKVEl5SlRKREpUSXlkbUZzZFdVbE1qSWxNMEVsTWpJbE1qSWxNa01sTWpKallYUmxaMjl5ZVNVeU1pVXpRU1V5TW1SbFptRjFiSFFsTWpJbE1rTWxNakpwWkNVeU1pVXpRU1V5TW5wdmRsSnZWM3BWZVVReE9UUXpNVFFsTWpJbE4wUWxNa01sTjBJbE1qSnVZVzFsSlRJeUpUTkJKVEl5SlVVMEpVSkZKVUpHSlVVM0pVRkRKVUpCSlRJeUpUSkRKVEl5ZEhsd1pTVXlNaVV6UVNVeU1uTjBjbWx1WnlVeU1pVXlReVV5TW5aaGJIVmxKVEl5SlROQkpUSXlKVEl5SlRKREpUSXlZMkYwWldkdmNua2xNaklsTTBFbE1qSmtaV1poZFd4MEpUSXlKVEpESlRJeWFXUWxNaklsTTBFbE1qSmFjV2REYmt0SFQzcHVNekU0TVRrMkpUSXlKVGRFSlRWRUpUSkRKVEl5Y0hKdmNITWxNaklsTTBFbE4wSWxNako0SlRJeUpUTkJOalk1SlRKREpUSXllU1V5TWlVelFUVTBOeTQxSlRKREpUSXlkeVV5TWlVelFURXhOQ1V5UXlVeU1tZ2xNaklsTTBFME9TVXlReVV5TW5wcGJtUmxlQ1V5TWlVelFURTV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eHBibVZUZEhsc1pTVXlNaVV6UVNVM1FpVXlNbXhwYm1WWGFXUjBhQ1V5TWlVelFUQWxOMFFsTWtNbE1qSm1hV3hzVTNSNWJHVWxNaklsTTBFbE4wSWxNakowZVhCbEpUSXlKVE5CSlRJeWJtOXVaU1V5TWlVM1JDVXlRe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Q1V5UXlVeU1ua2xNaklsTTBFd0pUSkRKVEl5ZHlVeU1pVXpRU1V5TW5jbE1qSWxNa01sTWpKb0pUSXlKVE5CSlRJeWFDVXlNaVUzUkNVeVF5VXlNblJsZUhRbE1qSWxNMEVsTWpKdFlXbHNhVzVuSlVVekpUZ3dKVGd4Y21WMmFYTmxKVVV6SlRnd0pUZ3hjbVYyYVdWM0pUSXdKVVV6SlRnd0pUZ3hiV1ZsZEdsdVp5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tGSFRsRlNlR2RCWVcwMk9URTJOalFsTWpJbE0wRWxOMElsTWpKcFpDVXlNaVV6UVNVeU1rRkhUbEZTZUdkQllXMDJPVEUyTmpRbE1qSWxNa01sTWpKdVlXMWxKVEl5SlROQkpUSXliR2x1YTJWeUpUSXlKVEpESlRJeWRHVjRkQ1V5TWlVelFTVXlNaVV5TWlVeVF5VXlNbWR5YjNWd0pUSXlKVE5CSlRJeUpUSXlKVEpESlRJeWJHbHVhMlZ5Vkhsd1pTVXlNaVV6UVNVeU1tSnliMnRsYmlVeU1pVXlReVV5TW5CdmFXNTBjeVV5TWlVelFTVTFRaVUzUWlVeU1uZ2xNaklsTTBFMk1ETWxNa01sTWpKNUpUSXlKVE5CTlRjeUpUZEVKVEpESlRkQ0pUSXllQ1V5TWlVelFUWXdNeVV5UXlVeU1ua2xNaklsTTBFMU56SWxOMFFsTlVRbE1rTWxNakpzYjJOclpXUWxNaklsTTBGbVlXeHpaU1V5UXlVeU1tUmhkR0ZCZEhSeWFXSjFkR1Z6SlRJeUpUTkJKVFZDSlRWRUpUSkRKVEl5Y0hKdmNITWxNaklsTTBFbE4wSWxNako2YVc1a1pYZ2xNaklsTTBFeU1DVTNSQ1V5UXlVeU1teHBibVZUZEhsc1pTVXlNaVV6UVNVM1FpVXlNbXhwYm1WWGFXUjBhQ1V5TWlVelFURXVOU1UzUkNVeVF5VXlNbVp5YjIwbE1qSWxNMEVsTjBJbE1qSjRKVEl5SlROQk5UTTNKVEpESlRJeWVTVXlNaVV6UVRVM01pVXlReVV5TW1GdVoyeGxKVEl5SlROQk15NHhOREUxT1RJMk5UTTFPRGszT1RNMkpUSkRKVEl5YVdRbE1qSWxNMEVsTWpKbmFHOVBSRU5OZVdabk5qZzVPVGt6SlRJeUpUZEVKVEpESlRJeWRHOGxNaklsTTBFbE4wSWxNakpwWkNVeU1pVXpRU1V5TWxoM1RFeGtXbVp6U1hnME1qRTBNRE1sTWpJbE1rTWxNako0SlRJeUpUTkJOalk1SlRKREpUSXllU1V5TWlVelFUVTNNaVV5UXlVeU1tRnVaMnhsSlRJeUpUTkJNQ1UzUkNVeVF5VXlNblJsZUhSQ2JHOWpheVV5TWlVelFTVTFRaVUxUkNVM1JDVXlReVV5TW5wT1ltaHFZa3hNU1dvMU1qUTJOVFlsTWpJbE0wRWxOMElsTWpKcFpDVXlNaVV6UVNVeU1ucE9ZbWhxWWt4TVNXbzFNalEyTlRZbE1qSWxNa01sTWpKdVlXMWxKVEl5SlROQkpUSXliR2x1YTJWeUpUSXlKVEpESlRJeWRHVjRkQ1V5TWlVelFTVXlNaVV5TWlVeVF5VXlNbWR5YjNWd0pUSXlKVE5CSlRJeUpUSXlKVEpESlRJeWJHbHVhMlZ5Vkhsd1pTVXlNaVV6UVNVeU1tSnliMnRsYmlVeU1pVXlReVV5TW5CdmFXNTBjeVV5TWlVelFTVTFRaVUzUWlVeU1uZ2xNaklsTTBFMU9UY3VOelVsTWtNbE1qSjVKVEl5SlROQk56QTFKVGRFSlRKREpUZENKVEl5ZUNVeU1pVXpRVFU1Tnk0M05TVXlReVV5TW5rbE1qSWxNMEUzTURVbE4wUWxOVVFsTWtNbE1qSnNiMk5yWldRbE1qSWxNMEZtWVd4elpTVXlReVV5TW1SaGRHRkJkSFJ5YVdKMWRHVnpKVEl5SlROQkpUVkNKVFZFSlRKREpUSXljSEp2Y0hNbE1qSWxNMEVsTjBJbE1qSjZhVzVrWlhnbE1qSWxNMEV5TVNVM1JDVXlReVV5TW14cGJtVlRkSGxzWlNVeU1pVXpRU1UzUWlVeU1teHBibVZYYVdSMGFDVXlNaVV6UVRFdU5TVTNSQ1V5UXlVeU1tWnliMjBsTWpJbE0wRWxOMElsTWpKNEpUSXlKVE5CTlRNM0pUSkRKVEl5ZVNVeU1pVXpRVGN3TlNVeVF5VXlNbUZ1WjJ4bEpUSXlKVE5CTXk0eE5ERTFPVEkyTlRNMU9EazNPVE0ySlRKREpUSXlhV1FsTWpJbE0wRWxNakpQZG1kb2FtbGpVbGx1TWpNek5ESXpKVEl5SlRkRUpUSkRKVEl5ZEc4bE1qSWxNMEVsTjBJbE1qSnBaQ1V5TWlVelFTVXlNazVIU1VWWWJYRkZjbUkyTWpRMU5qWWxNaklsTWtNbE1qSjRKVEl5SlROQk5qVTRMalVsTWtNbE1qSjVKVEl5SlROQk56QTFKVEpESlRJeVlXNW5iR1VsTWpJbE0wRXdKVGRFSlRKREpUSXlkR1Y0ZEVKc2IyTnJKVEl5SlROQkpUVkNKVFZFSlRkRUpUSkRKVEl5VGtkSlJWaHRjVVZ5WWpZeU5EVTJOaVV5TWlVelFTVTNRaVV5TW1sa0pUSXlKVE5CSlRJeVRrZEpSVmh0Y1VWeVlqWXlORFUyTmlVeU1pVXlReVV5TW01aGJXVWxNaklsTTBFbE1qSjBaWGgwSlRJeUpUSkRKVEl5ZEdsMGJHVWxNaklsTTBFbE1qSWxSVFlsT1RZbE9EY2xSVFlsT1VNbFFVT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pYSjBSVXhPZDNWRGNESTRNVFl5T0NVeU1pVTNSQ1V5UXlVM1FpVXlNbTVoYldVbE1qSWxNMEVsTWpJbFJUVWxPVEFsT0VRbFJUY2xRVGNsUWpBbE1qSWxNa01sTWpKMGVYQmxKVEl5SlROQkpUSXljM1J5YVc1bkpUSXlKVEpESlRJeWRtRnNkV1VsTWpJbE0wRWxNaklsTWpJbE1rTWxNakpqWVhSbFoyOXllU1V5TWlVelFTVXlNbVJsWm1GMWJIUWxNaklsTWtNbE1qSnBaQ1V5TWlVelFTVXlNazFHUWtsUmVVZDNVWEU1TlRFMU1UZ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T2QxbGFZMkZxVVhkb09EZ3dPRGMySlRJeUpUZEVKVEpESlRkQ0pUSXlibUZ0WlNVeU1pVXpRU1V5TWlWRk9DVkNSaVU1UlNWRk5pVTRSU1ZCTlNVeU1pVXlReVV5TW5SNWNHVWxNaklsTTBFbE1qSnNhVzVySlRJeUpUSkRKVEl5ZG1Gc2RXVWxNaklsTTBFbE1qSWxNaklsTWtNbE1qSmpZWFJsWjI5eWVTVXlNaVV6UVNVeU1tUmxabUYxYkhRbE1qSWxNa01sTWpKcFpDVXlNaVV6UVNVeU1tSklTWEpRUkhsWGMwb3pNRFl4TURVbE1qSWxOMFFsTWtNbE4wSWxNakp1WVcxbEpUSXlKVE5CSlRJeUpVVTBKVUpGSlVKR0pVVTNKVUZESlVKQkpUSXlKVEpESlRJeWRIbHdaU1V5TWlVelFTVXlNbk4wY21sdVp5VXlNaVV5UXlVeU1uWmhiSFZsSlRJeUpUTkJKVEl5SlRJeUpUSkRKVEl5WTJGMFpXZHZjbmtsTWpJbE0wRWxNakprWldaaGRXeDBKVEl5SlRKREpUSXlhV1FsTWpJbE0wRWxNakp4UTFsc1ZGVnBTVUpaTnpZMk5UWXdKVEl5SlRkRUpUVkVKVEpESlRJeWNISnZjSE1sTWpJbE0wRWxOMElsTWpKNEpUSXlKVE5CTmpVM0pUSkRKVEl5ZVNVeU1pVXpRVFkyTkM0MUpUSkRKVEl5ZHlVeU1pVXpRVEUxTUNVeVF5VXlNbWdsTWpJbE0wRTRNU1V5UXlVeU1ucHBibVJsZUNVeU1pVXpRVEl5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XhwYm1WVGRIbHNaU1V5TWlVelFTVTNRaVV5TW14cGJtVlhhV1IwYUNVeU1pVXpRVEFsTjBRbE1rTWxNakptYVd4c1UzUjViR1VsTWpJbE0wRWxOMElsTWpKMGVYQmxKVEl5SlROQkpUSXlibTl1WlNVeU1pVTNSQ1V5UX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UNVeVF5VXlNbmtsTWpJbE0wRXdKVEpESlRJeWR5VXlNaVV6UVNVeU1uY2xNaklsTWtNbE1qSm9KVEl5SlROQkpUSXlhQ1V5TWlVM1JDVXlReVV5TW5SbGVIUWxNaklsTTBFbE1qSmhjbTkxYm1RbE1qQTNOU1V5TlNVeU1HOW1KVEl3ZEdobGMyVWxNakJYUnkxaFpHOXdkR1ZrSlRJd1pISmhablJ6SlRJd1lYSmxKVEl3Y0hWaWJHbHphR1ZrSlRJd1lYTWxNakJoYmlVeU1GSkdReTR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jBRbE1rTWxNakpqYjIxdFpXNTBjeVV5TWlVelFTVTFRaVUxUkNVeVF5VXlNbkJzZFdkcGJuTWxNaklsTTBFbE4wSWxOMFFsTWtNbE1qSmhhVU52Ym5SaGFXNWxjbk1sTWpJbE0wRWxOMElsTjBRbE1rTWxNakpwYm5ObGNuUlFZV2RsVDNCMGN5VXlNaVV6UVNVM1FpVTNSQ1V5UXlVeU1uQnZjM1JRWVhsdFpXNTBKVEl5SlROQkpUZENKVGRFSlRKREpUSXlkR2hsYldVbE1qSWxNMEVsTjBJbE1qSndZV2RsSlRJeUpUTkJKVGRDSlRJeVltRmphMmR5YjNWdVpFTnZiRzl5SlRJeUpUTkJKVEl5ZEhKaGJuTndZWEpsYm5RbE1qSWxOMFFsTjBRbE4wUT0iLAoJIkZpbGVJZCIgOiAiYmM4NTM5NTMtMGVlOS00N2U1LWFkZGItYTkyZTQ1YmJiMGM1Igp9Cg=="/>
    </extobj>
    <extobj name="E657119C-6982-421D-8BA7-E74DEB70A7D9-2">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k5qWWxNa01sTWpKemFHOTNSM0pwWkNVeU1pVXpRWFJ5ZFdVbE1rTWxNakp5YVdOb1ZHVjRkQ1V5TWlVelFYUnlkV1VsTWtNbE1qSm9aV2xuYUhRbE1qSWxNMEV4TURBd0pUZEVKVEpESlRJeVpXeGxiV1Z1ZEhNbE1qSWxNMEVsTjBJbE1qSnBkbWxQYjNsb1pIcFlNakkxTURjM0pUSXlKVE5CSlRkQ0pUSXlhV1FsTWpJbE0wRWxNakpwZG1sUGIzbG9aSHBZTWpJMU1EYzN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bHpla0pEWjBwMmMzSXdOVGt6T1RBbE1qSWxOMFFsTWtNbE4wSWxNakp1WVcxbEpUSXlKVE5CSlRJeUpVVTFKVGt3SlRoRUpVVTNKVUUzSlVJd0pUSXlKVEpESlRJeWRIbHdaU1V5TWlVelFTVXlNbk4wY21sdVp5VXlNaVV5UXlVeU1uWmhiSFZsSlRJeUpUTkJKVEl5SlRJeUpUSkRKVEl5WTJGMFpXZHZjbmtsTWpJbE0wRWxNakprWldaaGRXeDBKVEl5SlRKREpUSXlhV1FsTWpJbE0wRWxNakpYUzJOVlpXTkdWWGhXTVRnNU1qazV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ZWSklkRWxHUTJWWmVUWTVORFE0TnlVeU1pVTNSQ1V5UXlVM1FpVXlNbTVoYldVbE1qSWxNMEVsTWpJbFJUZ2xRa1lsT1VVbFJUWWxPRVVsUVRVbE1qSWxNa01sTWpKMGVYQmxKVEl5SlROQkpUSXliR2x1YXlVeU1pVXlReVV5TW5aaGJIVmxKVEl5SlROQkpUSXlKVEl5SlRKREpUSXlZMkYwWldkdmNua2xNaklsTTBFbE1qSmtaV1poZFd4MEpUSXlKVEpESlRJeWFXUWxNaklsTTBFbE1qSnZlVzVDWkhGSlVGcEtPRFl4TVRJMEpUSXlKVGRFSlRKREpUZENKVEl5Ym1GdFpTVXlNaVV6UVNVeU1pVkZOQ1ZDUlNWQ1JpVkZOeVZCUXlWQ1FTVXlNaVV5UXlVeU1uUjVjR1VsTWpJbE0wRWxNakp6ZEhKcGJtY2xNaklsTWtNbE1qSjJZV3gxWlNVeU1pVXpRU1V5TWlVeU1pVXlReVV5TW1OaGRHVm5iM0o1SlRJeUpUTkJKVEl5WkdWbVlYVnNkQ1V5TWlVeVF5VXlNbWxrSlRJeUpUTkJKVEl5U0ZsSmJuUlRiMnhNU1RJME5qSXlNeVV5TWlVM1JDVTFSQ1V5UXlVeU1uQnliM0J6SlRJeUpUTkJKVGRDSlRJeWVDVXlNaVV6UVRRek9TVXlReVV5TW5rbE1qSWxNMEV4TURRbE1rTWxNakozSlRJeUpUTkJPVFlsTWtNbE1qSm9KVEl5SlROQk5UZ2xNa01sTWpKNmFXNWtaWGdsTWpJbE0wRXh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WlcxaGFXd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NlkwWjVkM0JwVDNCYU1EUXlPVFExSlRJeUpUTkJKVGRDSlRJeWFXUWxNaklsTTBFbE1qSjZZMFo1ZDNCcFQzQmFNRFF5T1RRMUpUSXlKVEpESlRJeWJtRnRaU1V5TWlVelFTVXlNbXhwYm10bGNpVXlNaVV5UXlVeU1uUmxlSFFsTWpJbE0wRWxNaklsTWpJbE1rTWxNakpuY205MWNDVXlNaVV6UVNVeU1pVXlNaVV5UXlVeU1teHBibXRsY2xSNWNHVWxNaklsTTBFbE1qSmljbTlyWlc0bE1qSWxNa01sTWpKd2IybHVkSE1sTWpJbE0wRWxOVUlsTjBJbE1qSjRKVEl5SlROQk5EZzNKVEpESlRJeWVTVXlNaVV6UVRJd01DNDFKVGRFSlRKREpUZENKVEl5ZUNVeU1pVXpRVFE0TnlVeVF5VXlNbmtsTWpJbE0wRXlNREF1TlNVM1JDVTFSQ1V5UXlVeU1teHZZMnRsWkNVeU1pVXpRV1poYkhObEpUSkRKVEl5WkdGMFlVRjBkSEpwWW5WMFpYTWxNaklsTTBFbE5VSWxOVVFsTWtNbE1qSndjbTl3Y3lVeU1pVXpRU1UzUWlVeU1ucHBibVJsZUNVeU1pVXpRVElsTjBRbE1rTWxNakpzYVc1bFUzUjViR1VsTWpJbE0wRWxOMElsTWpKc2FXNWxWMmxrZEdnbE1qSWxNMEV4TGpVbE4wUWxNa01sTWpKbWNtOXRKVEl5SlROQkpUZENKVEl5ZUNVeU1pVXpRVFE0TnlVeVF5VXlNbmtsTWpJbE0wRXhOaklsTWtNbE1qSnBaQ1V5TWlVelFTVXlNbWwyYVU5dmVXaGtlbGd5TWpVd056Y2xNaklsTWtNbE1qSmhibWRzWlNVeU1pVXpRVFF1TnpFeU16ZzRPVGd3TXpnME5qa2xOMFFsTWtNbE1qSjBieVV5TWlVelFTVTNRaVV5TW1sa0pUSXlKVE5CSlRJeWFITlRhRlJ6UjFSVWVUZzRPRGcyT1NVeU1pVXlReVV5TW5nbE1qSWxNMEUwT0RjbE1rTWxNako1SlRJeUpUTkJNak01SlRKREpUSXlZVzVuYkdVbE1qSWxNMEV4TGpVM01EYzVOak15TmpjNU5EZzVOeVUzUkNVeVF5VXlNblJsZUhSQ2JHOWpheVV5TWlVelFTVTFRaVUxUkNVM1JDVXlReVV5TW1oelUyaFVjMGRVVkhrNE9EZzROamtsTWpJbE0wRWxOMElsTWpKcFpDVXlNaVV6UVNVeU1taHpVMmhVYzBkVVZIazRPRGc0TmprbE1qSWxNa01sTWpKdVlXMWxKVEl5SlROQkpUSXljbVZqZEdGdVoyeGxKVEl5SlRKREpUSXlkR2wwYkdVbE1qSWxNMEVsTWp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WkdwNlpsTlJXblp0ZFRJd05qa3lOQ1V5TWlVM1JDVXlReVUzUWlVeU1tNWhiV1VsTWpJbE0wRWxNaklsUlRVbE9UQWxPRVFsUlRjbFFUY2xRakFsTWpJbE1rTWxNakowZVhCbEpUSXlKVE5CSlRJeWMzUnlhVzVuSlRJeUpUSkRKVEl5ZG1Gc2RXVWxNaklsTTBFbE1qSWxNaklsTWtNbE1qSmpZWFJsWjI5eWVTVXlNaVV6UVNVeU1tUmxabUYxYkhRbE1qSWxNa01sTWpKcFpDVXlNaVV6UVNVeU1saEliblJTUzFOT1RVZzFOalE0TmpR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0V21kS1NVVlFURXhhT0RJd01ESTFKVEl5SlRkRUpUSkRKVGRDSlRJeWJtRnRaU1V5TWlVelFTVXlNaVZGT0NWQ1JpVTVSU1ZGTmlVNFJTVkJOU1V5TWlVeVF5VXlNblI1Y0dVbE1qSWxNMEVsTWpKc2FXNXJKVEl5SlRKREpUSXlkbUZzZFdVbE1qSWxNMEVsTWpJbE1qSWxNa01sTWpKallYUmxaMjl5ZVNVeU1pVXpRU1V5TW1SbFptRjFiSFFsTWpJbE1rTWxNakpwWkNVeU1pVXpRU1V5TW1KUlYxZG9ka0ptU2trMU5UUTROVEVsTWpJbE4wUWxNa01sTjBJbE1qSnVZVzFsSlRJeUpUTkJKVEl5SlVVMEpVSkZKVUpHSlVVM0pVRkRKVUpCSlRJeUpUSkRKVEl5ZEhsd1pTVXlNaVV6UVNVeU1uTjBjbWx1WnlVeU1pVXlReVV5TW5aaGJIVmxKVEl5SlROQkpUSXlKVEl5SlRKREpUSXlZMkYwWldkdmNua2xNaklsTTBFbE1qSmtaV1poZFd4MEpUSXlKVEpESlRJeWFXUWxNaklsTTBFbE1qSllXblp2VjBkQlNtNXRNakl5TmpFMkpUSXlKVGRFSlRWRUpUSkRKVEl5Y0hKdmNITWxNaklsTTBFbE4wSWxNako0SlRJeUpUTkJOREEySlRKREpUSXllU1V5TWlVelFUSXpPU1V5UXlVeU1uY2xNaklsTTBFeE5qSWxNa01sTWpKb0pUSXlKVE5CTlRRbE1rTWxNako2YVc1a1pYZ2xNaklsTTBFek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RblZwYkdRbE1qQmhKVEl3YzI5amFXRnNKVEl3Ym1WMGQyOXlhe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sZGhVM1ZHWVVONmNXWTRNemt6TURnbE1qSWxNMEVsTjBJbE1qSnBaQ1V5TWlVelFTVXlNbGRoVTNWR1lVTjZjV1k0TXprek1EZ2xNaklsTWtNbE1qSnVZVzFsSlRJeUpUTkJKVEl5YkdsdWEyVnlKVEl5SlRKREpUSXlkR1Y0ZENVeU1pVXpRU1V5TWlVeU1pVXlReVV5TW1keWIzVndKVEl5SlROQkpUSXlKVEl5SlRKREpUSXliR2x1YTJWeVZIbHdaU1V5TWlVelFTVXlNbUp5YjJ0bGJpVXlNaVV5UXlVeU1uQnZhVzUwY3lVeU1pVXpRU1UxUWlVMVJDVXlReVV5TW14dlkydGxaQ1V5TWlVelFXWmhiSE5sSlRKREpUSXlaR0YwWVVGMGRISnBZblYwWlhNbE1qSWxNMEVsTlVJbE5VUWxNa01sTWpKd2NtOXdjeVV5TWlVelFTVTNRaVV5TW5wcGJtUmxlQ1V5TWlVelFUUWxOMFFsTWtNbE1qSnNhVzVsVTNSNWJHVWxNaklsTTBFbE4wSWxNakpzYVc1bFYybGtkR2dsTWpJbE0wRXhMalVsTjBRbE1rTWxNakptY205dEpUSXlKVE5CSlRkQ0pUSXllQ1V5TWlVelFUUTROeVV5UXlVeU1ua2xNaklsTTBFeU9UTWxNa01sTWpKaGJtZHNaU1V5TWlVelFUUXVOekV5TXpnNE9UZ3dNemcwTmprbE1rTWxNakpwWkNVeU1pVXpRU1V5TW1oelUyaFVjMGRVVkhrNE9EZzROamtsTWpJbE4wUWxNa01sTWpKMGJ5VXlNaVV6UVNVM1FpVXlNbWxrSlRJeUpUTkJKVEl5VG1wdlRIUklRVUZEVmpjNE1ESTROaVV5TWlVeVF5VXlNbmdsTWpJbE0wRTBPRGNsTWtNbE1qSjVKVEl5SlROQk16Y3pKVEpESlRJeVlXNW5iR1VsTWpJbE0wRXhMalUzTURjNU5qTXlOamM1TkRnNU5qTWxOMFFsTWtNbE1qSjBaWGgwUW14dlkyc2xNaklsTTBFbE5VSWxOVVFsTjBRbE1rTWxNakpPYW05TWRFaEJRVU5XTnpnd01qZzJKVEl5SlROQkpUZENKVEl5YVdRbE1qSWxNMEVsTWpKT2FtOU1kRWhCUVVOV056Z3dNamcy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VY1Vm5CeVRVTkNSV3M0TmpjMk1UVWxNaklsTjBRbE1rTWxOMElsTWpKdVlXMWxKVEl5SlROQkpUSXlKVVUxSlRrd0pUaEVKVVUzSlVFM0pVSXdKVEl5SlRKREpUSXlkSGx3WlNVeU1pVXpRU1V5TW5OMGNtbHVaeVV5TWlVeVF5VXlNblpoYkhWbEpUSXlKVE5CSlRJeUpUSXlKVEpESlRJeVkyRjBaV2R2Y25rbE1qSWxNMEVsTWpKa1pXWmhkV3gwSlRJeUpUSkRKVEl5YVdRbE1qSWxNMEVsTWpKM2JGSk9hM2wwVEVaek56VTRNREF3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TWEZrV201QmVXcFhhemswTURrM015VXlNaVUzUkNVeVF5VTNRaVV5TW01aGJXVWxNaklsTTBFbE1qSWxSVGdsUWtZbE9VVWxSVFlsT0VVbFFUVWxNaklsTWtNbE1qSjBlWEJsSlRJeUpUTkJKVEl5YkdsdWF5VXlNaVV5UXlVeU1uWmhiSFZsSlRJeUpUTkJKVEl5SlRJeUpUSkRKVEl5WTJGMFpXZHZjbmtsTWpJbE0wRWxNakprWldaaGRXeDBKVEl5SlRKREpUSXlhV1FsTWpJbE0wRWxNakpLVTFCdVRXcHdaRTFtT0RBM01EZ3lKVEl5SlRkRUpUSkRKVGRDSlRJeWJtRnRaU1V5TWlVelFTVXlNaVZGTkNWQ1JTVkNSaVZGTnlWQlF5VkNRU1V5TWlVeVF5VXlNblI1Y0dVbE1qSWxNMEVsTWpKemRISnBibWNsTWpJbE1rTWxNakoyWVd4MVpTVXlNaVV6UVNVeU1pVXlNaVV5UXlVeU1tTmhkR1ZuYjNKNUpUSXlKVE5CSlRJeVpHVm1ZWFZzZENVeU1pVXlReVV5TW1sa0pUSXlKVE5CSlRJeVFtNXZTbXBTWjBaaFNUVTFOVGd6TVNVeU1pVTNSQ1UxUkNVeVF5VXlNbkJ5YjNCekpUSXlKVE5CSlRkQ0pUSXllQ1V5TWlVelFUUXdOaVV5UXlVeU1ua2xNaklsTTBFek56QWxNa01sTWpKM0pUSXlKVE5CTVRZeUpUSkRKVEl5YUNVeU1pVXpRVFUwSlRKREpUSXllbWx1WkdWNEpUSXlKVE5CTlN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rTmhiR04xYkdGMFpTVXlNR1ZoWTJnbE1qQndaWEp6YjI0bmN5VXlNR2x1Wm14MVpXNWpaU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tZHBjRkpxUzJGWGVIa3dNRGN3TlRZbE1qSWxNMEVsTjBJbE1qSnBaQ1V5TWlVelFTVXlNbWRwY0ZKcVMyRlhlSGt3TURjd05UWWxNaklsTWtNbE1qSnVZVzFsSlRJeUpUTkJKVEl5YkdsdWEyVnlKVEl5SlRKREpUSXlkR1Y0ZENVeU1pVXpRU1V5TWlVeU1pVXlReVV5TW1keWIzVndKVEl5SlROQkpUSXlKVEl5SlRKREpUSXliR2x1YTJWeVZIbHdaU1V5TWlVelFTVXlNbUp5YjJ0bGJpVXlNaVV5UXlVeU1uQnZhVzUwY3lVeU1pVXpRU1UxUWlVMVJDVXlReVV5TW14dlkydGxaQ1V5TWlVelFXWmhiSE5sSlRKREpUSXlaR0YwWVVGMGRISnBZblYwWlhNbE1qSWxNMEVsTlVJbE5VUWxNa01sTWpKd2NtOXdjeVV5TWlVelFTVTNRaVV5TW5wcGJtUmxlQ1V5TWlVelFUWWxOMFFsTWtNbE1qSnNhVzVsVTNSNWJHVWxNaklsTTBFbE4wSWxNakpzYVc1bFYybGtkR2dsTWpJbE0wRXhMalVsTjBRbE1rTWxNakptY205dEpUSXlKVE5CSlRkQ0pUSXllQ1V5TWlVelFUUTROeVV5UXlVeU1ua2xNaklsTTBFME1qUWxNa01sTWpKcFpDVXlNaVV6UVNVeU1rNXFiMHgwU0VGQlExWTNPREF5T0RZbE1qSWxNa01sTWpKaGJtZHNaU1V5TWlVelFUUXVOekV5TXpnNE9UZ3dNemcwTmprbE4wUWxNa01sTWpKMGJ5VXlNaVV6UVNVM1FpVXlNbWxrSlRJeUpUTkJKVEl5ZDFkelIyTkJja3gyWmpNMk9EUXdOaVV5TWlVeVF5VXlNbmdsTWpJbE0wRTBPRGNsTWtNbE1qSjVKVEl5SlROQk5UQTBKVEpESlRJeVlXNW5iR1VsTWpJbE0wRXhMalUzTURjNU5qTXlOamM1TkRnNU5qTWxOMFFsTWtNbE1qSjBaWGgwUW14dlkyc2xNaklsTTBFbE5VSWxOVVFsTjBRbE1rTWxNakozVjNOSFkwRnlUSFptTXpZNE5EQTJKVEl5SlROQkpUZENKVEl5YVdRbE1qSWxNMEVsTWpKM1YzTkhZMEZ5VEhabU16WTROREEy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mxhV2s5RldsRlNlVTB5TmpRMk1qa2xNaklsTjBRbE1rTWxOMElsTWpKdVlXMWxKVEl5SlROQkpUSXlKVVUxSlRrd0pUaEVKVVUzSlVFM0pVSXdKVEl5SlRKREpUSXlkSGx3WlNVeU1pVXpRU1V5TW5OMGNtbHVaeVV5TWlVeVF5VXlNblpoYkhWbEpUSXlKVE5CSlRJeUpUSXlKVEpESlRJeVkyRjBaV2R2Y25rbE1qSWxNMEVsTWpKa1pXWmhkV3gwSlRJeUpUSkRKVEl5YVdRbE1qSWxNMEVsTWpKR1VHcHNjVk5KWTI1eE5EVTBOREk0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RWFpJVDNoTWNHSndhRE00TkRRMU1pVXlNaVUzUkNVeVF5VTNRaVV5TW01aGJXVWxNaklsTTBFbE1qSWxSVGdsUWtZbE9VVWxSVFlsT0VVbFFUVWxNaklsTWtNbE1qSjBlWEJsSlRJeUpUTkJKVEl5YkdsdWF5VXlNaVV5UXlVeU1uWmhiSFZsSlRJeUpUTkJKVEl5SlRJeUpUSkRKVEl5WTJGMFpXZHZjbmtsTWpJbE0wRWxNakprWldaaGRXeDBKVEl5SlRKREpUSXlhV1FsTWpJbE0wRWxNakphZGtsaFFYZHlZV3BhT0RnNE5URTVKVEl5SlRkRUpUSkRKVGRDSlRJeWJtRnRaU1V5TWlVelFTVXlNaVZGTkNWQ1JTVkNSaVZGTnlWQlF5VkNRU1V5TWlVeVF5VXlNblI1Y0dVbE1qSWxNMEVsTWpKemRISnBibWNsTWpJbE1rTWxNakoyWVd4MVpTVXlNaVV6UVNVeU1pVXlNaVV5UXlVeU1tTmhkR1ZuYjNKNUpUSXlKVE5CSlRJeVpHVm1ZWFZzZENVeU1pVXlReVV5TW1sa0pUSXlKVE5CSlRJeVZGSm5UVkpyZUZoamF6ZzVOalkzTnlVeU1pVTNSQ1UxUkNVeVF5VXlNbkJ5YjNCekpUSXlKVE5CSlRkQ0pUSXllQ1V5TWlVelFUTTNPQ1V5UXlVeU1ua2xNaklsTTBFMU1ERWxNa01sTWpKM0pUSXlKVE5CTWpFNEpUSkRKVEl5YUNVeU1pVXpRVFUwSlRKREpUSXllbWx1WkdWNEpUSXlKVE5CTnl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rRnVZV3g1ZW1VbE1qQjBhR1VsTWpCeVpXeGhkR2x2Ym5Ob2FYQWxNakJpWlhSM1pXVnVKVEl3YVc1bWJIVmxibU5sSlRJd1lXNWtKVEl3UkhKaFpuU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NWRsRk1RV05WZFdwQ01qSTBNVE16SlRJeUpUTkJKVGRDSlRJeWFXUWxNaklsTTBFbE1qSjVkbEZNUVdOVmRXcENNakkwTVRNekpUSXlKVEpESlRJeWJtRnRaU1V5TWlVelFTVXlNbXhwYm10bGNpVXlNaVV5UXlVeU1uUmxlSFFsTWpJbE0wRWxNaklsTWpJbE1rTWxNakpuY205MWNDVXlNaVV6UVNVeU1pVXlNaVV5UXlVeU1teHBibXRsY2xSNWNHVWxNaklsTTBFbE1qSmljbTlyWlc0bE1qSWxNa01sTWpKd2IybHVkSE1sTWpJbE0wRWxOVUlsTlVRbE1rTWxNakpzYjJOclpXUWxNaklsTTBGbVlXeHpaU1V5UXlVeU1tUmhkR0ZCZEhSeWFXSjFkR1Z6SlRJeUpUTkJKVFZDSlRWRUpUSkRKVEl5Y0hKdmNITWxNaklsTTBFbE4wSWxNako2YVc1a1pYZ2xNaklsTTBFNEpUZEVKVEpESlRJeWJHbHVaVk4wZVd4bEpUSXlKVE5CSlRkQ0pUSXliR2x1WlZkcFpIUm9KVEl5SlROQk1TNDFKVGRFSlRKREpUSXlabkp2YlNVeU1pVXpRU1UzUWlVeU1uZ2xNaklsTTBFME9EY2xNa01sTWpKNUpUSXlKVE5CTlRVMUpUSkRKVEl5YVdRbE1qSWxNMEVsTWpKM1YzTkhZMEZ5VEhabU16WTROREEySlRJeUpUSkRKVEl5WVc1bmJHVWxNaklsTTBFMExqY3hNak00T0RrNE1ETTRORFk1SlRkRUpUSkRKVEl5ZEc4bE1qSWxNMEVsTjBJbE1qSnBaQ1V5TWlVelFTVXlNbGhHY2xwcFNucFBRMGN5T1RjNE5EVWxNaklsTWtNbE1qSjRKVEl5SlROQk5EZzNKVEpESlRJeWVTVXlNaVV6UVRZek1TVXlReVV5TW1GdVoyeGxKVEl5SlROQk1TNDFOekEzT1RZek1qWTNPVFE0T1RZMkpUZEVKVEpESlRJeWRHVjRkRUpzYjJOckpUSXlKVE5CSlRWQ0pUVkVKVGRFSlRKREpUSXlXRVp5V21sS2VrOURSekk1TnpnME5TVXlNaVV6UVNVM1FpVXlNbWxrSlRJeUpUTkJKVEl5V0VaeVdtbEtlazlEUnpJNU56ZzBOU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lWVzF6UkUxVVZIVlBOekUwTWpZd0pUSXlKVGRFSlRKREpUZENKVEl5Ym1GdFpTVXlNaVV6UVNVeU1pVkZOU1U1TUNVNFJDVkZOeVZCTnlWQ01DVXlNaVV5UXlVeU1uUjVjR1VsTWpJbE0wRWxNakp6ZEhKcGJtY2xNaklsTWtNbE1qSjJZV3gxWlNVeU1pVXpRU1V5TWlVeU1pVXlReVV5TW1OaGRHVm5iM0o1SlRJeUpUTkJKVEl5WkdWbVlYVnNkQ1V5TWlVeVF5VXlNbWxrSlRJeUpUTkJKVEl5VVVaNmFFZFBTbTl2WlRreE9USTNOU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tVmtaMFpZVUhKUWVHazJNVFE0TmpnbE1qSWxOMFFsTWtNbE4wSWxNakp1WVcxbEpUSXlKVE5CSlRJeUpVVTRKVUpHSlRsRkpVVTJKVGhGSlVFMUpUSXlKVEpESlRJeWRIbHdaU1V5TWlVelFTVXlNbXhwYm1zbE1qSWxNa01sTWpKMllXeDFaU1V5TWlVelFTVXlNaVV5TWlVeVF5VXlNbU5oZEdWbmIzSjVKVEl5SlROQkpUSXlaR1ZtWVhWc2RDVXlNaVV5UXlVeU1tbGtKVEl5SlROQkpUSXliMjlKUmtoTGIzbHRVekkwTlRjM09DVXlNaVUzUkNVeVF5VTNRaVV5TW01aGJXVWxNaklsTTBFbE1qSWxSVFFsUWtVbFFrWWxSVGNsUVVNbFFrRWxNaklsTWtNbE1qSjBlWEJsSlRJeUpUTkJKVEl5YzNSeWFXNW5KVEl5SlRKREpUSXlkbUZzZFdVbE1qSWxNMEVsTWpJbE1qSWxNa01sTWpKallYUmxaMjl5ZVNVeU1pVXpRU1V5TW1SbFptRjFiSFFsTWpJbE1rTWxNakpwWkNVeU1pVXpRU1V5TW1kNlRtSmtZbVI0VkV3ek1UTXhOemtsTWpJbE4wUWxOVVFsTWtNbE1qSndjbTl3Y3lVeU1pVXpRU1UzUWlVeU1uZ2xNaklsTTBFek56Z2xNa01sTWpKNUpUSXlKVE5CTmpNeUpUSkRKVEl5ZHlVeU1pVXpRVEl4T0NVeVF5VXlNbWdsTWpJbE0wRTFOQ1V5UXlVeU1ucHBibVJsZUNVeU1pVXpRVGt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KQ2RXbHNaQ1V5TUdFbE1qQnRZV05vYVc1bEpUSXdiR1ZoY201cGJtY2xNakJ0YjJSbGJDVXlNSFJ2SlRJd2NISmxaR2xqZENVeU1FUnlZV1owSlRJd2MzVmpZMlZ6Y3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GQyVDFka1UxWlJUMVUwTmprME16WWxNaklsTTBFbE4wSWxNakpwWkNVeU1pVXpRU1V5TWxkMlQxZGtVMVpSVDFVME5qazBNellsTWpJbE1rTWxNakp1WVcxbEpUSXlKVE5CSlRJeWJHbHVhMlZ5SlRJeUpUSkRKVEl5ZEdWNGRDVXlNaVV6UVNVeU1pVXlNaVV5UXlVeU1tZHliM1Z3SlRJeUpUTkJKVEl5SlRJeUpUSkRKVEl5YkdsdWEyVnlWSGx3WlNVeU1pVXpRU1V5TW1KeWIydGxiaVV5TWlVeVF5VXlNbkJ2YVc1MGN5VXlNaVV6UVNVMVFpVTFSQ1V5UXlVeU1teHZZMnRsWkNVeU1pVXpRV1poYkhObEpUSkRKVEl5WkdGMFlVRjBkSEpwWW5WMFpYTWxNaklsTTBFbE5VSWxOVVFsTWtNbE1qSndjbTl3Y3lVeU1pVXpRU1UzUWlVeU1ucHBibVJsZUNVeU1pVXpRVEV3SlRkRUpUSkRKVEl5YkdsdVpWTjBlV3hsSlRJeUpUTkJKVGRDSlRJeWJHbHVaVmRwWkhSb0pUSXlKVE5CTVM0MUpUZEVKVEpESlRJeVpuSnZiU1V5TWlVelFTVTNRaVV5TW5nbE1qSWxNMEUxTXpVbE1rTWxNako1SlRJeUpUTkJNVE16SlRKREpUSXlZVzVuYkdVbE1qSWxNMEV6TGpFME1UVTVNalkxTXpVNE9UYzVNellsTWtNbE1qSnBaQ1V5TWlVelFTVXlNbWwyYVU5dmVXaGtlbGd5TWpVd056Y2xNaklsTjBRbE1rTWxNakowYnlVeU1pVXpRU1UzUWlVeU1tbGtKVEl5SlROQkpUSXlURWxZV1daQldsZHhjekF5TlRBek1TVXlNaVV5UXlVeU1uZ2xNaklsTTBFMk1EY2xNa01sTWpKNUpUSXlKVE5CTVRNekpUSkRKVEl5WVc1bmJHVWxNaklsTTBFd0pUZEVKVEpESlRJeWRHVjRkRUpzYjJOckpUSXlKVE5CSlRWQ0pUVkVKVGRFSlRKREpUSXlURWxZV1daQldsZHhjekF5TlRBek1TVXlNaVV6UVNVM1FpVXlNbWxrSlRJeUpUTkJKVEl5VEVsWVdXWkJXbGR4Y3pBeU5UQXpNU1V5TWlVeVF5VXlNbTVoYldVbE1qSWxNMEVsTWpKMFpYaDBKVEl5SlRKREpUSXlkR2wwYkdVbE1qSWxNMEVsTWpJbFJUWWxPVFlsT0RjbFJUWWxPVU1sUVVN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2xKSmFFMVZTR0pJY0RRek5UQTJOeVV5TWlVM1JDVXlReVUzUWlVeU1tNWhiV1VsTWpJbE0wRWxNaklsUlRVbE9UQWxPRVFsUlRjbFFUY2xRakFsTWpJbE1rTWxNakowZVhCbEpUSXlKVE5CSlRJeWMzUnlhVzVuSlRJeUpUSkRKVEl5ZG1Gc2RXVWxNaklsTTBFbE1qSWxNaklsTWtNbE1qSmpZWFJsWjI5eWVTVXlNaVV6UVNVeU1tUmxabUYxYkhRbE1qSWxNa01sTWpKcFpDVXlNaVV6UVNVeU1uTmxXSGhXV25wMlowVTRNemd6TXpF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QWm1wcmFWRnRiSHBYTURBek56RXpKVEl5SlRkRUpUSkRKVGRDSlRJeWJtRnRaU1V5TWlVelFTVXlNaVZGT0NWQ1JpVTVSU1ZGTmlVNFJTVkJOU1V5TWlVeVF5VXlNblI1Y0dVbE1qSWxNMEVsTWpKc2FXNXJKVEl5SlRKREpUSXlkbUZzZFdVbE1qSWxNMEVsTWpJbE1qSWxNa01sTWpKallYUmxaMjl5ZVNVeU1pVXpRU1V5TW1SbFptRjFiSFFsTWpJbE1rTWxNakpwWkNVeU1pVXpRU1V5TW1GTWQwRjNiVXR1VUU0NU1qY3hPRE1sTWpJbE4wUWxNa01sTjBJbE1qSnVZVzFsSlRJeUpUTkJKVEl5SlVVMEpVSkZKVUpHSlVVM0pVRkRKVUpCSlRJeUpUSkRKVEl5ZEhsd1pTVXlNaVV6UVNVeU1uTjBjbWx1WnlVeU1pVXlReVV5TW5aaGJIVmxKVEl5SlROQkpUSXlKVEl5SlRKREpUSXlZMkYwWldkdmNua2xNaklsTTBFbE1qSmtaV1poZFd4MEpUSXlKVEpESlRJeWFXUWxNaklsTTBFbE1qSllVbUppYzFWaFlsbHNOekE0T0RBNEpUSXlKVGRFSlRWRUpUSkRKVEl5Y0hKdmNITWxNaklsTTBFbE4wSWxNako0SlRJeUpUTkJOakEzSlRKREpUSXllU1V5TWlVelFURXhNeVV5UXlVeU1uY2xNaklsTTBFeE1Ea2xNa01sTWpKb0pUSXlKVE5CTkRBbE1rTWxNako2YVc1a1pYZ2xNaklsTTBFeE1T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c2FXNWxVM1I1YkdVbE1qSWxNMEVsTjBJbE1qSnNhVzVsVjJsa2RHZ2xNaklsTTBFd0pUZEVKVEpESlRJeVptbHNiRk4wZVd4bEpUSXlKVE5CSlRkQ0pUSXlkSGx3WlNVeU1pVXpRU1V5TW01dmJtVWxNaklsTjBRbE1rT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QWxNa01sTWpKNUpUSXlKVE5CTUNVeVF5VXlNbmNsTWpJbE0wRWxNakozSlRJeUpUSkRKVEl5YUNVeU1pVXpRU1V5TW1nbE1qSWxOMFFsTWtNbE1qSjBaWGgwSlRJeUpUTkJKVEl5VDJKMFlXbHVKVEl3Y21GM0pUSXdaR0YwWV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EZ0VVd0T1FVRkNaSGcwT0RFM016Y2xNaklsTTBFbE4wSWxNakpwWkNVeU1pVXpRU1V5TWxGdFVXdE9RVUZDWkhnME9ERTNNemNsTWpJbE1rTWxNakp1WVcxbEpUSXlKVE5CSlRJeWJHbHVhMlZ5SlRJeUpUSkRKVEl5ZEdWNGRDVXlNaVV6UVNVeU1pVXlNaVV5UXlVeU1tZHliM1Z3SlRJeUpUTkJKVEl5SlRJeUpUSkRKVEl5YkdsdWEyVnlWSGx3WlNVeU1pVXpRU1V5TW1KeWIydGxiaVV5TWlVeVF5VXlNbkJ2YVc1MGN5VXlNaVV6UVNVMVFpVTFSQ1V5UXlVeU1teHZZMnRsWkNVeU1pVXpRV1poYkhObEpUSkRKVEl5WkdGMFlVRjBkSEpwWW5WMFpYTWxNaklsTTBFbE5VSWxOVVFsTWtNbE1qSndjbTl3Y3lVeU1pVXpRU1UzUWlVeU1ucHBibVJsZUNVeU1pVXpRVEV5SlRkRUpUSkRKVEl5YkdsdVpWTjBlV3hsSlRJeUpUTkJKVGRDSlRJeWJHbHVaVmRwWkhSb0pUSXlKVE5CTVM0MUpUZEVKVEpESlRJeVpuSnZiU1V5TWlVelFTVTNRaVV5TW5nbE1qSWxNMEUxTmpnbE1rTWxNako1SlRJeUpUTkJNalkySlRKREpUSXlZVzVuYkdVbE1qSWxNMEV6TGpFME1UVTVNalkxTXpVNE9UYzVNellsTWtNbE1qSnBaQ1V5TWlVelFTVXlNbWh6VTJoVWMwZFVWSGs0T0RnNE5qa2xNaklsTjBRbE1rTWxNakowYnlVeU1pVXpRU1UzUWlVeU1tbGtKVEl5SlROQkpUSXlVbTFHV0ZKdWRGRkNiamczTVRBMk1DVXlNaVV5UXlVeU1uZ2xNaklsTTBFMk5USWxNa01sTWpKNUpUSXlKVE5CTWpZMkpUSkRKVEl5WVc1bmJHVWxNaklsTTBFd0pUZEVKVEpESlRJeWRHVjRkRUpzYjJOckpUSXlKVE5CSlRWQ0pUVkVKVGRFSlRKREpUSXlVbTFHV0ZKdWRGRkNiamczTVRBMk1DVXlNaVV6UVNVM1FpVXlNbWxrSlRJeUpUTkJKVEl5VW0xR1dGSnVkRkZDYmpnM01UQTJNQ1V5TWlVeVF5VXlNbTVoYldVbE1qSWxNMEVsTWpKMFpYaDBKVEl5SlRKREpUSXlkR2wwYkdVbE1qSWxNMEVsTWpJbFJUWWxPVFlsT0RjbFJUWWxPVU1sUVVN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WtGeFVGbEhWa3g1UVRneE5ESTRNQ1V5TWlVM1JDVXlReVUzUWlVeU1tNWhiV1VsTWpJbE0wRWxNaklsUlRVbE9UQWxPRVFsUlRjbFFUY2xRakFsTWpJbE1rTWxNakowZVhCbEpUSXlKVE5CSlRJeWMzUnlhVzVuSlRJeUpUSkRKVEl5ZG1Gc2RXVWxNaklsTTBFbE1qSWxNaklsTWtNbE1qSmpZWFJsWjI5eWVTVXlNaVV6UVNVeU1tUmxabUYxYkhRbE1qSWxNa01sTWpKcFpDVXlNaVV6UVNVeU1uQklXSHByZWxkbldFY3hOalF6Tnpj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zYzFWVVRFeGxhR1JzTkRNeE1qZzNKVEl5SlRkRUpUSkRKVGRDSlRJeWJtRnRaU1V5TWlVelFTVXlNaVZGT0NWQ1JpVTVSU1ZGTmlVNFJTVkJOU1V5TWlVeVF5VXlNblI1Y0dVbE1qSWxNMEVsTWpKc2FXNXJKVEl5SlRKREpUSXlkbUZzZFdVbE1qSWxNMEVsTWpJbE1qSWxNa01sTWpKallYUmxaMjl5ZVNVeU1pVXpRU1V5TW1SbFptRjFiSFFsTWpJbE1rTWxNakpwWkNVeU1pVXpRU1V5TWs5RllrdHZTbGRxVlhZM016SXhNakVsTWpJbE4wUWxNa01sTjBJbE1qSnVZVzFsSlRJeUpUTkJKVEl5SlVVMEpVSkZKVUpHSlVVM0pVRkRKVUpCSlRJeUpUSkRKVEl5ZEhsd1pTVXlNaVV6UVNVeU1uTjBjbWx1WnlVeU1pVXlReVV5TW5aaGJIVmxKVEl5SlROQkpUSXlKVEl5SlRKREpUSXlZMkYwWldkdmNua2xNaklsTTBFbE1qSmtaV1poZFd4MEpUSXlKVEpESlRJeWFXUWxNaklsTTBFbE1qSk9hMHBRZVV4eGIxWlNOREUzTlRnNUpUSXlKVGRFSlRWRUpUSkRKVEl5Y0hKdmNITWxNaklsTTBFbE4wSWxNako0SlRJeUpUTkJOalV5SlRKREpUSXllU1V5TWlVelFUSTBOaVV5UXlVeU1uY2xNaklsTTBFeE9EWWxNa01sTWpKb0pUSXlKVE5CTkRBbE1rTWxNako2YVc1a1pYZ2xNaklsTTBFeE15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c2FXNWxVM1I1YkdVbE1qSWxNMEVsTjBJbE1qSnNhVzVsVjJsa2RHZ2xNaklsTTBFd0pUZEVKVEpESlRJeVptbHNiRk4wZVd4bEpUSXlKVE5CSlRkQ0pUSXlkSGx3WlNVeU1pVXpRU1V5TW01dmJtVWxNaklsTjBRbE1rT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QWxNa01sTWpKNUpUSXlKVE5CTUNVeVF5VXlNbmNsTWpJbE0wRWxNakozSlRJeUpUSkRKVEl5YUNVeU1pVXpRU1V5TW1nbE1qSWxOMFFsTWtNbE1qSjBaWGgwSlRJeUpUTkJKVEl5UW5WcGJHUWxNakJoSlRJd2MyOWphV0ZzSlRJd2JtVjBkMjl5YXlVeU1HSmhjMlZrSlRJd2IyNGxNakJsYldGcGJDVXlNR2x1ZEdWeVlXTjBhVzl1Y3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2xQYVdKUmRsbGpkMGc0TVRBNU1qRWxNaklsTTBFbE4wSWxNakpwWkNVeU1pVXpRU1V5TWtsUGFXSlJkbGxqZDBnNE1UQTVNakVsTWpJbE1rTWxNakp1WVcxbEpUSXlKVE5CSlRJeWJHbHVhMlZ5SlRJeUpUSkRKVEl5ZEdWNGRDVXlNaVV6UVNVeU1pVXlNaVV5UXlVeU1tZHliM1Z3SlRJeUpUTkJKVEl5SlRJeUpUSkRKVEl5YkdsdWEyVnlWSGx3WlNVeU1pVXpRU1V5TW1KeWIydGxiaVV5TWlVeVF5VXlNbkJ2YVc1MGN5VXlNaVV6UVNVMVFpVTFSQ1V5UXlVeU1teHZZMnRsWkNVeU1pVXpRV1poYkhObEpUSkRKVEl5WkdGMFlVRjBkSEpwWW5WMFpYTWxNaklsTTBFbE5VSWxOVVFsTWtNbE1qSndjbTl3Y3lVeU1pVXpRU1UzUWlVeU1ucHBibVJsZUNVeU1pVXpRVEUwSlRkRUpUSkRKVEl5YkdsdVpWTjBlV3hsSlRJeUpUTkJKVGRDSlRJeWJHbHVaVmRwWkhSb0pUSXlKVE5CTVM0MUpUZEVKVEpESlRJeVpuSnZiU1V5TWlVelFTVTNRaVV5TW5nbE1qSWxNMEUxTmpnbE1rTWxNako1SlRJeUpUTkJNemszSlRKREpUSXlZVzVuYkdVbE1qSWxNMEV6TGpFME1UVTVNalkxTXpVNE9UYzVNellsTWtNbE1qSnBaQ1V5TWlVelFTVXlNazVxYjB4MFNFRkJRMVkzT0RBeU9EWWxNaklsTjBRbE1rTWxNakowYnlVeU1pVXpRU1UzUWlVeU1tbGtKVEl5SlROQkpUSXlZMmgyZVZSMGVGVndTak00T1RFM05DVXlNaVV5UXlVeU1uZ2xNaklsTTBFMk5USWxNa01sTWpKNUpUSXlKVE5CTXprM0pUSkRKVEl5WVc1bmJHVWxNaklsTTBFd0pUZEVKVEpESlRJeWRHVjRkRUpzYjJOckpUSXlKVE5CSlRWQ0pUVkVKVGRFSlRKREpUSXlZMmgyZVZSMGVGVndTak00T1RFM05DVXlNaVV6UVNVM1FpVXlNbWxrSlRJeUpUTkJKVEl5WTJoMmVWUjBlRlZ3U2pNNE9URTNOQ1V5TWlVeVF5VXlNbTVoYldVbE1qSWxNMEVsTWpKMFpYaDBKVEl5SlRKREpUSXlkR2wwYkdVbE1qSWxNMEVsTWpJbFJUWWxPVFlsT0RjbFJUWWxPVU1sUVVN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YVZsWlJuWnBSSE5XVnpZM016RTFOQ1V5TWlVM1JDVXlReVUzUWlVeU1tNWhiV1VsTWpJbE0wRWxNaklsUlRVbE9UQWxPRVFsUlRjbFFUY2xRakFsTWpJbE1rTWxNakowZVhCbEpUSXlKVE5CSlRJeWMzUnlhVzVuSlRJeUpUSkRKVEl5ZG1Gc2RXVWxNaklsTTBFbE1qSWxNaklsTWtNbE1qSmpZWFJsWjI5eWVTVXlNaVV6UVNVeU1tUmxabUYxYkhRbE1qSWxNa01sTWpKcFpDVXlNaVV6UVNVeU1uWjFlbUZ3VWxsd2VtNDFNREE1T1RB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owZVZacWIwaGlUVUp1TlRjNE5URTVKVEl5SlRkRUpUSkRKVGRDSlRJeWJtRnRaU1V5TWlVelFTVXlNaVZGT0NWQ1JpVTVSU1ZGTmlVNFJTVkJOU1V5TWlVeVF5VXlNblI1Y0dVbE1qSWxNMEVsTWpKc2FXNXJKVEl5SlRKREpUSXlkbUZzZFdVbE1qSWxNMEVsTWpJbE1qSWxNa01sTWpKallYUmxaMjl5ZVNVeU1pVXpRU1V5TW1SbFptRjFiSFFsTWpJbE1rTWxNakpwWkNVeU1pVXpRU1V5TW1aaGEzaFJURXRpVkhJNE16VXlOelVsTWpJbE4wUWxNa01sTjBJbE1qSnVZVzFsSlRJeUpUTkJKVEl5SlVVMEpVSkZKVUpHSlVVM0pVRkRKVUpCSlRJeUpUSkRKVEl5ZEhsd1pTVXlNaVV6UVNVeU1uTjBjbWx1WnlVeU1pVXlReVV5TW5aaGJIVmxKVEl5SlROQkpUSXlKVEl5SlRKREpUSXlZMkYwWldkdmNua2xNaklsTTBFbE1qSmtaV1poZFd4MEpUSXlKVEpESlRJeWFXUWxNaklsTTBFbE1qSjFVV3RJV0VsM1RHTlRORFUwT0RRNEpUSXlKVGRFSlRWRUpUSkRKVEl5Y0hKdmNITWxNaklsTTBFbE4wSWxNako0SlRJeUpUTkJOalV5SlRKREpUSXllU1V5TWlVelFUTTJOQzQxSlRKREpUSXlkeVV5TWlVelFURTROaVV5UXlVeU1tZ2xNaklsTTBFMk5TVXlReVV5TW5wcGJtUmxlQ1V5TWlVelFURTF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eHBibVZUZEhsc1pTVXlNaVV6UVNVM1FpVXlNbXhwYm1WWGFXUjBhQ1V5TWlVelFUQWxOMFFsTWtNbE1qSm1hV3hzVTNSNWJHVWxNaklsTTBFbE4wSWxNakowZVhCbEpUSXlKVE5CSlRJeWJtOXVaU1V5TWlVM1JDVXlRe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Q1V5UXlVeU1ua2xNaklsTTBFd0pUSkRKVEl5ZHlVeU1pVXpRU1V5TW5jbE1qSWxNa01sTWpKb0pUSXlKVE5CSlRJeWFDVXlNaVUzUkNVeVF5VXlNblJsZUhRbE1qSWxNMEVsTWpKQmJtRnNlWHBsSlRJd2RHaGxKVEl3YVc1bWJIVmxibU5sSlRJd2IyWWxNakJsWVdOb0pUSXdibTlrWlNVeU1HbHVKVEl3ZEdobEpUSXdibVYwZDI5eWF5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5sWWVsVkxWMUJvV25jMk56VTFOREVsTWpJbE0wRWxOMElsTWpKcFpDVXlNaVV6UVNVeU1ubFllbFZMVjFCb1duYzJOelUxTkRFbE1qSWxNa01sTWpKdVlXMWxKVEl5SlROQkpUSXliR2x1YTJWeUpUSXlKVEpESlRJeWRHVjRkQ1V5TWlVelFTVXlNaVV5TWlVeVF5VXlNbWR5YjNWd0pUSXlKVE5CSlRJeUpUSXlKVEpESlRJeWJHbHVhMlZ5Vkhsd1pTVXlNaVV6UVNVeU1tSnliMnRsYmlVeU1pVXlReVV5TW5CdmFXNTBjeVV5TWlVelFTVTFRaVUxUkNVeVF5VXlNbXh2WTJ0bFpDVXlNaVV6UVdaaGJITmxKVEpESlRJeVpHRjBZVUYwZEhKcFluVjBaWE1sTWpJbE0wRWxOVUlsTlVRbE1rTWxNakp3Y205d2N5VXlNaVV6UVNVM1FpVXlNbnBwYm1SbGVDVXlNaVV6UVRFMkpUZEVKVEpESlRJeWJHbHVaVk4wZVd4bEpUSXlKVE5CSlRkQ0pUSXliR2x1WlZkcFpIUm9KVEl5SlROQk1TNDFKVGRFSlRKREpUSXlabkp2YlNVeU1pVXpRU1UzUWlVeU1uZ2xNaklsTTBFMU9UWWxNa01sTWpKNUpUSXlKVE5CTlRJNEpUSkRKVEl5WVc1bmJHVWxNaklsTTBFekxqRTBNVFU1TWpZMU16VTRPVGM1TXpZbE1rTWxNakpwWkNVeU1pVXpRU1V5TW5kWGMwZGpRWEpNZG1Zek5qZzBNRFlsTWpJbE4wUWxNa01sTWpKMGJ5VXlNaVV6UVNVM1FpVXlNbWxrSlRJeUpUTkJKVEl5WVVsSFRuUm1lWGx6YkRFME9ETTJOaVV5TWlVeVF5VXlNbmdsTWpJbE0wRTJPRFFsTWtNbE1qSjVKVEl5SlROQk5USTRKVEpESlRJeVlXNW5iR1VsTWpJbE0wRXdKVGRFSlRKREpUSXlkR1Y0ZEVKc2IyTnJKVEl5SlROQkpUVkNKVFZFSlRkRUpUSkRKVEl5WVVsSFRuUm1lWGx6YkRFME9ETTJOaVV5TWlVelFTVTNRaVV5TW1sa0pUSXlKVE5CSlRJeVlVbEhUblJtZVhsemJERTBPRE0yTmlVeU1pVXlReVV5TW01aGJXVWxNaklsTTBFbE1qSjBaWGgwSlRJeUpUSkRKVEl5ZEdsMGJHVWxNaklsTTBFbE1qSWxSVFlsT1RZbE9EY2xSVFlsT1VNbFFVT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UyeGxZMlIwUTIxeFdEUTFOamMyTWlVeU1pVTNSQ1V5UXlVM1FpVXlNbTVoYldVbE1qSWxNMEVsTWpJbFJUVWxPVEFsT0VRbFJUY2xRVGNsUWpBbE1qSWxNa01sTWpKMGVYQmxKVEl5SlROQkpUSXljM1J5YVc1bkpUSXlKVEpESlRJeWRtRnNkV1VsTWpJbE0wRWxNaklsTWpJbE1rTWxNakpqWVhSbFoyOXllU1V5TWlVelFTVXlNbVJsWm1GMWJIUWxNaklsTWtNbE1qSnBaQ1V5TWlVelFTVXlNbTlzYldORFYyNTNUVmMxT0RRME1EZ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WlJGUnJUbmQxVldWMU5URTJOalUySlRJeUpUZEVKVEpESlRkQ0pUSXlibUZ0WlNVeU1pVXpRU1V5TWlWRk9DVkNSaVU1UlNWRk5pVTRSU1ZCTlNVeU1pVXlReVV5TW5SNWNHVWxNaklsTTBFbE1qSnNhVzVySlRJeUpUSkRKVEl5ZG1Gc2RXVWxNaklsTTBFbE1qSWxNaklsTWtNbE1qSmpZWFJsWjI5eWVTVXlNaVV6UVNVeU1tUmxabUYxYkhRbE1qSWxNa01sTWpKcFpDVXlNaVV6UVNVeU1saE9kMkpsVWtGSmNHODBPVGczTXpZbE1qSWxOMFFsTWtNbE4wSWxNakp1WVcxbEpUSXlKVE5CSlRJeUpVVTBKVUpGSlVKR0pVVTNKVUZESlVKQkpUSXlKVEpESlRJeWRIbHdaU1V5TWlVelFTVXlNbk4wY21sdVp5VXlNaVV5UXlVeU1uWmhiSFZsSlRJeUpUTkJKVEl5SlRJeUpUSkRKVEl5WTJGMFpXZHZjbmtsTWpJbE0wRWxNakprWldaaGRXeDBKVEl5SlRKREpUSXlhV1FsTWpJbE0wRWxNakptVlZKclpuQmpkVmROTXpBME56Y3hKVEl5SlRkRUpUVkVKVEpESlRJeWNISnZjSE1sTWpJbE0wRWxOMElsTWpKNEpUSXlKVE5CTmpnMEpUSkRKVEl5ZVNVeU1pVXpRVFV3T0NVeVF5VXlNbmNsTWpJbE0wRXlNRFVsTWtNbE1qSm9KVEl5SlROQk5EQWxNa01sTWpKNmFXNWtaWGdsTWpJbE0wRXhOeV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nNhVzVsVTNSNWJHVWxNaklsTTBFbE4wSWxNakpzYVc1bFYybGtkR2dsTWpJbE0wRXdKVGRFSlRKREpUSXlabWxzYkZOMGVXeGxKVEl5SlROQkpUZENKVEl5ZEhsd1pTVXlNaVV6UVNVeU1tNXZibVVsTWpJbE4wUWxNa01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FsTWtNbE1qSjVKVEl5SlROQk1DVXlReVV5TW5jbE1qSWxNMEVsTWpKM0pUSXlKVEpESlRJeWFDVXlNaVV6UVNVeU1tZ2xNaklsTjBRbE1rTWxNakowWlhoMEpUSXlKVE5CSlRJeVJYaHdiRzl5WVhSdmNua2xNakJoYm1Gc2VYTnBjeVV5TUc5bUpUSXdkR2hsSlRJd1kyOXljbVZzWVhScGIyNGxNakJpWlhSM1pXVnVKVEl3ZEdobEpUSXdkSGR2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RblYyVDB4alpuZG9SVEl4T0RJME1DVXlNaVV6UVNVM1FpVXlNbWxrSlRJeUpUTkJKVEl5UW5WMlQweGpabmRvUlRJeE9ESTBNQ1V5TWlVeVF5VXlNbTVoYldVbE1qSWxNMEVsTWpKc2FXNXJaWElsTWpJbE1rTWxNakowWlhoMEpUSXlKVE5CSlRJeUpUSXlKVEpESlRJeVozSnZkWEFsTWpJbE0wRWxNaklsTWpJbE1rTWxNakpzYVc1clpYSlVlWEJsSlRJeUpUTkJKVEl5WW5KdmEyVnVKVEl5SlRKREpUSXljRzlwYm5SekpUSXlKVE5CSlRWQ0pUVkVKVEpESlRJeWJHOWphMlZrSlRJeUpUTkJabUZzYzJVbE1rTWxNakprWVhSaFFYUjBjbWxpZFhSbGN5VXlNaVV6UVNVMVFpVTFSQ1V5UXlVeU1uQnliM0J6SlRJeUpUTkJKVGRDSlRJeWVtbHVaR1Y0SlRJeUpUTkJNVGdsTjBRbE1rTWxNakpzYVc1bFUzUjViR1VsTWpJbE0wRWxOMElsTWpKc2FXNWxWMmxrZEdnbE1qSWxNMEV4TGpVbE4wUWxNa01sTWpKbWNtOXRKVEl5SlROQkpUZENKVEl5ZUNVeU1pVXpRVFU1TmlVeVF5VXlNbmtsTWpJbE0wRTJOVGtsTWtNbE1qSmhibWRzWlNVeU1pVXpRVE11TVRReE5Ua3lOalV6TlRnNU56a3pOaVV5UXlVeU1tbGtKVEl5SlROQkpUSXlXRVp5V21sS2VrOURSekk1TnpnME5TVXlNaVUzUkNVeVF5VXlNblJ2SlRJeUpUTkJKVGRDSlRJeWFXUWxNaklsTTBFbE1qSklXVlZVWmsxQ1EyNUdPVFkzTlRnNUpUSXlKVEpESlRJeWVDVXlNaVV6UVRZNE5DVXlReVV5TW5rbE1qSWxNMEUyTlRrbE1rTWxNakpoYm1kc1pTVXlNaVV6UVRBbE4wUWxNa01sTWpKMFpYaDBRbXh2WTJzbE1qSWxNMEVsTlVJbE5VUWxOMFFsTWtNbE1qSklXVlZVWmsxQ1EyNUdPVFkzTlRnNUpUSXlKVE5CSlRkQ0pUSXlhV1FsTWpJbE0wRWxNakpJV1ZWVVprMUNRMjVHT1RZM05UZzVKVEl5SlRKREpUSXlibUZ0WlNVeU1pVXpRU1V5TW5SbGVIUWxNaklsTWtNbE1qSjBhWFJzWlNVeU1pVXpRU1V5TWlWRk5pVTVOaVU0TnlWRk5pVTVReVZCUX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YYVZoTllXcFFSRkY0TkRFM05EQTFKVEl5SlRkRUpUSkRKVGRDSlRJeWJtRnRaU1V5TWlVelFTVXlNaVZGTlNVNU1DVTRSQ1ZGTnlWQk55VkNNQ1V5TWlVeVF5VXlNblI1Y0dVbE1qSWxNMEVsTWpKemRISnBibWNsTWpJbE1rTWxNakoyWVd4MVpTVXlNaVV6UVNVeU1pVXlNaVV5UXlVeU1tTmhkR1ZuYjNKNUpUSXlKVE5CSlRJeVpHVm1ZWFZzZENVeU1pVXlReVV5TW1sa0pUSXlKVE5CSlRJeWJVaDBTVmQzVkZCcFdUVXhOamswTnl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a1ZOWmtkbGNtNVZWSEF4TXpJNE1ERWxNaklsTjBRbE1rTWxOMElsTWpKdVlXMWxKVEl5SlROQkpUSXlKVVU0SlVKR0pUbEZKVVUySlRoRkpVRTFKVEl5SlRKREpUSXlkSGx3WlNVeU1pVXpRU1V5TW14cGJtc2xNaklsTWtNbE1qSjJZV3gxWlNVeU1pVXpRU1V5TWlVeU1pVXlReVV5TW1OaGRHVm5iM0o1SlRJeUpUTkJKVEl5WkdWbVlYVnNkQ1V5TWlVeVF5VXlNbWxrSlRJeUpUTkJKVEl5YzNKQlQxZHhjVXhaZFRjeU56VXlOU1V5TWlVM1JDVXlReVUzUWlVeU1tNWhiV1VsTWpJbE0wRWxNaklsUlRRbFFrVWxRa1lsUlRjbFFVTWxRa0VsTWpJbE1rTWxNakowZVhCbEpUSXlKVE5CSlRJeWMzUnlhVzVuSlRJeUpUSkRKVEl5ZG1Gc2RXVWxNaklsTTBFbE1qSWxNaklsTWtNbE1qSmpZWFJsWjI5eWVTVXlNaVV6UVNVeU1tUmxabUYxYkhRbE1qSWxNa01sTWpKcFpDVXlNaVV6UVNVeU1rbG5TMlYzYjB4eVVsWTNPVFl5TVRJbE1qSWxOMFFsTlVRbE1rTWxNakp3Y205d2N5VXlNaVV6UVNVM1FpVXlNbmdsTWpJbE0wRTJPRFFsTWtNbE1qSjVKVEl5SlROQk5qTTVKVEpESlRJeWR5VXlNaVV6UVRJeE15VXlReVV5TW1nbE1qSWxNMEUwTUNVeVF5VXlNbnBwYm1SbGVDVXlNaVV6UVRFNU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DVXlReVV5TW5rbE1qSWxNMEV3SlRKREpUSXlkeVV5TWlVelFTVXlNbmNsTWpJbE1rTWxNakpvSlRJeUpUTkJKVEl5YUNVeU1pVTNSQ1V5UXlVeU1uUmxlSFFsTWpJbE0wRWxNakpVY21GcGJpVXlNR0VsTWpCdGIyUmxiQ1V5TUhWemFXNW5KVEl3Wm1WaGRIVnlaWE1sTWpCemRXTm9KVEl3WVhNbE1qQnBibVpzZFdWdVkyVWxNakIwYnlVeU1HMWhhMlVsTWpCd2NtVmthV04wYVc5dWN5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TNSQ1V5UXlVeU1tTnZiVzFsYm5SekpUSXlKVE5CSlRWQ0pUVkVKVEpESlRJeWNHeDFaMmx1Y3lVeU1pVXpRU1UzUWlVM1JDVXlReVV5TW1GcFEyOXVkR0ZwYm1WeWN5VXlNaVV6UVNVM1FpVTNSQ1V5UXlVeU1tbHVjMlZ5ZEZCaFoyVlBjSFJ6SlRJeUpUTkJKVGRDSlRkRUpUSkRKVEl5Y0c5emRGQmhlVzFsYm5RbE1qSWxNMEVsTjBJbE4wUWxNa01sTWpKMGFHVnRaU1V5TWlVelFTVTNRaVV5TW5CaFoyVWxNaklsTTBFbE4wSWxNakppWVdOclozSnZkVzVrUTI5c2IzSWxNaklsTTBFbE1qSjBjbUZ1YzNCaGNtVnVkQ1V5TWlVM1JDVTNSQ1UzUkE9PSIsCgkiRmlsZUlkIiA6ICIwZDZkYjRmZC1mODljLTQ4OTQtYjgxYS1jYTYzMDdmN2IyMDYiCn0K"/>
    </extobj>
    <extobj name="E657119C-6982-421D-8BA7-E74DEB70A7D9-3">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ME16SWxNa01sTWpKemFHOTNSM0pwWkNVeU1pVXpRWFJ5ZFdVbE1rTWxNakp5YVdOb1ZHVjRkQ1V5TWlVelFYUnlkV1VsTWtNbE1qSm9aV2xuYUhRbE1qSWxNMEV4TURBd0pUZEVKVEpESlRJeVpXeGxiV1Z1ZEhNbE1qSWxNMEVsTjBJbE1qSm9ibWQxUVhsNVJXZG9OalkxT1RJMkpUSXlKVE5CSlRkQ0pUSXlhV1FsTWpJbE0wRWxNakpvYm1kMVFYbDVSV2RvTmpZMU9USTJKVEl5SlRKREpUSXlibUZ0WlNVeU1pVXpRU1V5TW5CeWIyTmxjM01sTWpJbE1rTWxNakowYVhSc1pTVXlNaVV6UVNVeU1pVkZOaVZDTlNVNE1TVkZOeVZCT0NVNFFpVXlNaVV5UXlVeU1tTmhkR1ZuYjNKNUpUSXlKVE5CSlRJeVpteHZk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t4dlpFMVhhV05EYVcwMk1UQTRNVFFsTWpJbE4wUWxNa01sTjBJbE1qSnVZVzFsSlRJeUpUTkJKVEl5SlVVMUpUa3dKVGhFSlVVM0pVRTNKVUl3SlRJeUpUSkRKVEl5ZEhsd1pTVXlNaVV6UVNVeU1uTjBjbWx1WnlVeU1pVXlReVV5TW5aaGJIVmxKVEl5SlROQkpUSXlKVEl5SlRKREpUSXlZMkYwWldkdmNua2xNaklsTTBFbE1qSmtaV1poZFd4MEpUSXlKVEpESlRJeWFXUWxNaklsTTBFbE1qSlhiMVpGU0ZKVWFIaE5Oekk0T1RjM0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WlVkUmJYTjBjV0ZRV2pBeE16WTRNU1V5TWlVM1JDVXlReVUzUWlVeU1tNWhiV1VsTWpJbE0wRWxNaklsUlRnbFFrWWxPVVVsUlRZbE9FVWxRVFVsTWpJbE1rTWxNakowZVhCbEpUSXlKVE5CSlRJeWJHbHVheVV5TWlVeVF5VXlNblpoYkhWbEpUSXlKVE5CSlRJeUpUSXlKVEpESlRJeVkyRjBaV2R2Y25rbE1qSWxNMEVsTWpKa1pXWmhkV3gwSlRJeUpUSkRKVEl5YVdRbE1qSWxNMEVsTWpKTlJGUmlTMHhRVUVWcE16WTVOelkwSlRJeUpUZEVKVEpESlRkQ0pUSXlibUZ0WlNVeU1pVXpRU1V5TWlWRk5DVkNSU1ZDUmlWRk55VkJReVZDUVNVeU1pVXlReVV5TW5SNWNHVWxNaklsTTBFbE1qSnpkSEpwYm1jbE1qSWxNa01sTWpKMllXeDFaU1V5TWlVelFTVXlNaVV5TWlVeVF5VXlNbU5oZEdWbmIzSjVKVEl5SlROQkpUSXlaR1ZtWVhWc2RDVXlNaVV5UXlVeU1tbGtKVEl5SlROQkpUSXlhRk5QVVZWUmJFSnNVekV3TXpFeU9TVXlNaVUzUkNVeVF5VTNRaVV5TW01aGJXVWxNaklsTTBFbE1qSWxSVFlsT0RnbE9UQWxSVFlsT1VNbFFVTWxNaklsTWtNbE1qSjBlWEJsSlRJeUpUTkJKVEl5Ym5WdFltVnlKVEl5SlRKREpUSXlkbUZzZFdVbE1qSWxNMEVsTWpJbE1qSWxNa01sTWpKallYUmxaMjl5ZVNVeU1pVXpRU1V5TW1SbFptRjFiSFFsTWpJbE1rTWxNakpwWkNVeU1pVXpRU1V5TW1sTlJtNXRTV1p4UkdZeU5ETXlOREFsTWpJbE4wUWxNa01sTjBJbE1qSnVZVzFsSlRJeUpUTkJKVEl5SlVVMkpUazNKVUkySlVVNUpUazNKVUkwSlRJeUpUSkRKVEl5ZEhsd1pTVXlNaVV6UVNVeU1tNTFiV0psY2lVeU1pVXlReVV5TW5aaGJIVmxKVEl5SlROQkpUSXlKVEl5SlRKREpUSXlZMkYwWldkdmNua2xNaklsTTBFbE1qSmtaV1poZFd4MEpUSXlKVEpESlRJeWFXUWxNaklsTTBFbE1qSndkMWRuVUZGRlJVZHJPVGczTnpVNEpUSXlKVGRFSlRKREpUZENKVEl5Ym1GdFpTVXlNaVV6UVNVeU1pVkZPU1U0TXlWQk9DVkZPU1U1TnlWQk9DVXlNaVV5UXlVeU1uUjVjR1VsTWpJbE0wRWxNakp6ZEhKcGJtY2xNaklsTWtNbE1qSjJZV3gxWlNVeU1pVXpRU1V5TWlVeU1pVXlReVV5TW1OaGRHVm5iM0o1SlRJeUpUTkJKVEl5WkdWbVlYVnNkQ1V5TWlVeVF5VXlNbWxrSlRJeUpUTkJKVEl5UjJSMFVIUmtaSFpOWWprMk16QTJOQ1V5TWlVM1JDVXlReVUzUWlVeU1tNWhiV1VsTWpJbE0wRWxNaklsUlRnbFFrVWxPVE1sUlRVbE9EVWxRVFVsTWpJbE1rTWxNakowZVhCbEpUSXlKVE5CSlRJeWMzUnlhVzVuSlRJeUpUSkRKVEl5ZG1Gc2RXVWxNaklsTTBFbE1qSWxNaklsTWtNbE1qSmpZWFJsWjI5eWVTVXlNaVV6UVNVeU1tUmxabUYxYkhRbE1qSWxNa01sTWpKcFpDVXlNaVV6UVNVeU1tWm9UM0ZpVGxKamFFUXhNVEUxTkRrbE1qSWxOMFFsTWtNbE4wSWxNakp1WVcxbEpUSXlKVE5CSlRJeUpVVTRKVUpGSlRrekpVVTFKVGczSlVKQkpUSXlKVEpESlRJeWRIbHdaU1V5TWlVelFTVXlNbk4wY21sdVp5VXlNaVV5UXlVeU1uWmhiSFZsSlRJeUpUTkJKVEl5SlRJeUpUSkRKVEl5WTJGMFpXZHZjbmtsTWpJbE0wRWxNakprWldaaGRXeDBKVEl5SlRKREpUSXlhV1FsTWpJbE0wRWxNakpGUzNKbWRsTlhWSGgwTmpJeE1qY3hKVEl5SlRkRUpUSkRKVGRDSlRJeWJtRnRaU1V5TWlVelFTVXlNaVZGT1NWQk15VTRSU1ZGT1NVNU9TVkJPU1V5TWlVeVF5VXlNblI1Y0dVbE1qSWxNMEVsTWpKemRISnBibWNsTWpJbE1rTWxNakoyWVd4MVpTVXlNaVV6UVNVeU1pVXlNaVV5UXlVeU1tTmhkR1ZuYjNKNUpUSXlKVE5CSlRJeVpHVm1ZWFZzZENVeU1pVXlReVV5TW1sa0pUSXlKVE5CSlRJeVJtMU9lVTlWVVVaUlF6UTRNVFl3T1NVeU1pVTNSQ1V5UXlVM1FpVXlNbTVoYldVbE1qSWxNMEVsTWpJbFJUVWxRVFFsT0RjbFJUWWxRak1sUVRnbE1qSWxNa01sTWpKMGVYQmxKVEl5SlROQkpUSXljM1J5YVc1bkpUSXlKVEpESlRJeWRtRnNkV1VsTWpJbE0wRWxNaklsTWpJbE1rTWxNakpqWVhSbFoyOXllU1V5TWlVelFTVXlNbVJsWm1GMWJIUWxNaklsTWtNbE1qSnBaQ1V5TWlVelFTVXlNbVZ4WTFwTWRrZFZXbVUyTURFeU5UQWxNaklsTjBRbE5VUWxNa01sTWpKd2NtOXdjeVV5TWlVelFTVTNRaVV5TW5nbE1qSWxNMEV5SlRKREpUSXllU1V5TWlVelFUTTVOQ1V5UXlVeU1uY2xNaklsTTBFeE9UQWxNa01sTWpKb0pUSXlKVE5CTnpBbE1rTWxNako2YVc1a1pYZ2xNaklsTTBFeE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TVzUwWlhKdVpYUXRSSEpoWm5RbE1qQWxNa1lsTWpCRWIyTjFiV1Z1ZE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XRSZDFKQ2RGZHpkbVV6T0RFek5EZ2xNaklsTTBFbE4wSWxNakpwWkNVeU1pVXpRU1V5TW10UmQxSkNkRmR6ZG1Vek9ERXpORGdsTWpJbE1rTWxNakp1WVcxbEpUSXlKVE5CSlRJeWNISnZZMlZ6Y3lVeU1pVXlReVV5TW5ScGRHeGxKVEl5SlROQkpUSXlKVVUySlVJMUpUZ3hKVVUzSlVFNEpUaENKVEl5SlRKREpUSXlZMkYwWldkdmNua2xNaklsTTBFbE1qSm1iRzkz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JYVjNWM2xDZVV0SFpEZ3hOVFUwT0NVeU1pVTNSQ1V5UXlVM1FpVXlNbTVoYldVbE1qSWxNMEVsTWpJbFJUVWxPVEFsT0VRbFJUY2xRVGNsUWpBbE1qSWxNa01sTWpKMGVYQmxKVEl5SlROQkpUSXljM1J5YVc1bkpUSXlKVEpESlRJeWRtRnNkV1VsTWpJbE0wRWxNaklsTWpJbE1rTWxNakpqWVhSbFoyOXllU1V5TWlVelFTVXlNbVJsWm1GMWJIUWxNaklsTWtNbE1qSnBaQ1V5TWlVelFTVXlNblYxYjJoSWRsZEVWVUUwTkRnek1UY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RlFuZDNlVTFtVVcxdE16STRPRGcySlRJeUpUZEVKVEpESlRkQ0pUSXlibUZ0WlNVeU1pVXpRU1V5TWlWRk9DVkNSaVU1UlNWRk5pVTRSU1ZCTlNVeU1pVXlReVV5TW5SNWNHVWxNaklsTTBFbE1qSnNhVzVySlRJeUpUSkRKVEl5ZG1Gc2RXVWxNaklsTTBFbE1qSWxNaklsTWtNbE1qSmpZWFJsWjI5eWVTVXlNaVV6UVNVeU1tUmxabUYxYkhRbE1qSWxNa01sTWpKcFpDVXlNaVV6UVNVeU1rWlRRbVY1U2tablozb3dNekl6T1RFbE1qSWxOMFFsTWtNbE4wSWxNakp1WVcxbEpUSXlKVE5CSlRJeUpVVTBKVUpGSlVKR0pVVTNKVUZESlVKQkpUSXlKVEpESlRJeWRIbHdaU1V5TWlVelFTVXlNbk4wY21sdVp5VXlNaVV5UXlVeU1uWmhiSFZsSlRJeUpUTkJKVEl5SlRJeUpUSkRKVEl5WTJGMFpXZHZjbmtsTWpJbE0wRWxNakprWldaaGRXeDBKVEl5SlRKREpUSXlhV1FsTWpJbE0wRWxNakp3Y1cxNVJFNWlhV1JzTXpZME5UY3pKVEl5SlRkRUpUSkRKVGRDSlRJeWJtRnRaU1V5TWlVelFTVXlNaVZGTmlVNE9DVTVNQ1ZGTmlVNVF5VkJReVV5TWlVeVF5VXlNblI1Y0dVbE1qSWxNMEVsTWpKdWRXMWlaWElsTWpJbE1rTWxNakoyWVd4MVpTVXlNaVV6UVNVeU1pVXlNaVV5UXlVeU1tTmhkR1ZuYjNKNUpUSXlKVE5CSlRJeVpHVm1ZWFZzZENVeU1pVXlReVV5TW1sa0pUSXlKVE5CSlRJeVdtUkplbk5xYW1Gd2VEZzVPVEF4TXlVeU1pVTNSQ1V5UXlVM1FpVXlNbTVoYldVbE1qSWxNMEVsTWpJbFJUWWxPVGNsUWpZbFJUa2xPVGNsUWpRbE1qSWxNa01sTWpKMGVYQmxKVEl5SlROQkpUSXliblZ0WW1WeUpUSXlKVEpESlRJeWRtRnNkV1VsTWpJbE0wRWxNaklsTWpJbE1rTWxNakpqWVhSbFoyOXllU1V5TWlVelFTVXlNbVJsWm1GMWJIUWxNaklsTWtNbE1qSnBaQ1V5TWlVelFTVXlNbFZTUVc1VGRIUlJhMGsyTVRBM016WWxNaklsTjBRbE1rTWxOMElsTWpKdVlXMWxKVEl5SlROQkpUSXlKVVU1SlRnekpVRTRKVVU1SlRrM0pVRTRKVEl5SlRKREpUSXlkSGx3WlNVeU1pVXpRU1V5TW5OMGNtbHVaeVV5TWlVeVF5VXlNblpoYkhWbEpUSXlKVE5CSlRJeUpUSXlKVEpESlRJeVkyRjBaV2R2Y25rbE1qSWxNMEVsTWpKa1pXWmhkV3gwSlRJeUpUSkRKVEl5YVdRbE1qSWxNMEVsTWpKdVJuTlpWMmRzVFVacU16Y3hNRE0wSlRJeUpUZEVKVEpESlRkQ0pUSXlibUZ0WlNVeU1pVXpRU1V5TWlWRk9DVkNSU1U1TXlWRk5TVTROU1ZCTlNVeU1pVXlReVV5TW5SNWNHVWxNaklsTTBFbE1qSnpkSEpwYm1jbE1qSWxNa01sTWpKMllXeDFaU1V5TWlVelFTVXlNaVV5TWlVeVF5VXlNbU5oZEdWbmIzSjVKVEl5SlROQkpUSXlaR1ZtWVhWc2RDVXlNaVV5UXlVeU1tbGtKVEl5SlROQkpUSXlTa0ZzYldoclEybFhjREE1TmpZME9DVXlNaVUzUkNVeVF5VTNRaVV5TW01aGJXVWxNaklsTTBFbE1qSWxSVGdsUWtVbE9UTWxSVFVsT0RjbFFrRWxNaklsTWtNbE1qSjBlWEJsSlRJeUpUTkJKVEl5YzNSeWFXNW5KVEl5SlRKREpUSXlkbUZzZFdVbE1qSWxNMEVsTWpJbE1qSWxNa01sTWpKallYUmxaMjl5ZVNVeU1pVXpRU1V5TW1SbFptRjFiSFFsTWpJbE1rTWxNakpwWkNVeU1pVXpRU1V5TWxkU2QyNVphR2ROZEZRNU56a3pPRGdsTWpJbE4wUWxNa01sTjBJbE1qSnVZVzFsSlRJeUpUTkJKVEl5SlVVNUpVRXpKVGhGSlVVNUpUazVKVUU1SlRJeUpUSkRKVEl5ZEhsd1pTVXlNaVV6UVNVeU1uTjBjbWx1WnlVeU1pVXlReVV5TW5aaGJIVmxKVEl5SlROQkpUSXlKVEl5SlRKREpUSXlZMkYwWldkdmNua2xNaklsTTBFbE1qSmtaV1poZFd4MEpUSXlKVEpESlRJeWFXUWxNaklsTTBFbE1qSkhVM0ZZVkZwTldFMUJNREl3T0RNNEpUSXlKVGRFSlRKREpUZENKVEl5Ym1GdFpTVXlNaVV6UVNVeU1pVkZOU1ZCTkNVNE55VkZOaVZDTXlWQk9DVXlNaVV5UXlVeU1uUjVjR1VsTWpJbE0wRWxNakp6ZEhKcGJtY2xNaklsTWtNbE1qSjJZV3gxWlNVeU1pVXpRU1V5TWlVeU1pVXlReVV5TW1OaGRHVm5iM0o1SlRJeUpUTkJKVEl5WkdWbVlYVnNkQ1V5TWlVeVF5VXlNbWxrSlRJeUpUTkJKVEl5WkVoMVJVRjNaRzUzV2pFME1UZzJNeVV5TWlVM1JDVTFSQ1V5UXlVeU1uQnliM0J6SlRJeUpUTkJKVGRDSlRJeWVDVXlNaVV6UVRJM05pVXlReVV5TW5rbE1qSWxNMEV6T1RRbE1rTWxNakozSlRJeUpUTkJNVGt3SlRKREpUSXlhQ1V5TWlVelFUY3dKVEpESlRJeWVtbHVaR1Y0SlRJeUpUTkJNeV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tGMWRHaHZja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sZG9RVk5OVVVSaGNFOHhNamMzTnpZbE1qSWxNMEVsTjBJbE1qSnBaQ1V5TWlVelFTVXlNbGRvUVZOTlVVUmhjRTh4TWpjM056WWxNaklsTWtNbE1qSnVZVzFsSlRJeUpUTkJKVEl5Y0hKdlkyVnpjeVV5TWlVeVF5VXlNblJwZEd4bEpUSXlKVE5CSlRJeUpVVTJKVUkxSlRneEpVVTNKVUU0SlRoQ0pUSXlKVEpESlRJeVkyRjBaV2R2Y25rbE1qSWxNMEVsTWpKbWJHOTN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UWtWRGFsSjJXRk5OZVRNek9UUXlNeVV5TWlVM1JDVXlReVUzUWlVeU1tNWhiV1VsTWpJbE0wRWxNaklsUlRVbE9UQWxPRVFsUlRjbFFUY2xRakFsTWpJbE1rTWxNakowZVhCbEpUSXlKVE5CSlRJeWMzUnlhVzVuSlRJeUpUSkRKVEl5ZG1Gc2RXVWxNaklsTTBFbE1qSWxNaklsTWtNbE1qSmpZWFJsWjI5eWVTVXlNaVV6UVNVeU1tUmxabUYxYkhRbE1qSWxNa01sTWpKcFpDVXlNaVV6UVNVeU1rcDRVSEphUzBGTGVXMHdNekF5TURV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SU0hwbGVWVjFVMmxFTXpRek1UazFKVEl5SlRkRUpUSkRKVGRDSlRJeWJtRnRaU1V5TWlVelFTVXlNaVZGT0NWQ1JpVTVSU1ZGTmlVNFJTVkJOU1V5TWlVeVF5VXlNblI1Y0dVbE1qSWxNMEVsTWpKc2FXNXJKVEl5SlRKREpUSXlkbUZzZFdVbE1qSWxNMEVsTWpJbE1qSWxNa01sTWpKallYUmxaMjl5ZVNVeU1pVXpRU1V5TW1SbFptRjFiSFFsTWpJbE1rTWxNakpwWkNVeU1pVXpRU1V5TW5kblRXaHVWM3BzYTB3NE56WXhNRGtsTWpJbE4wUWxNa01sTjBJbE1qSnVZVzFsSlRJeUpUTkJKVEl5SlVVMEpVSkZKVUpHSlVVM0pVRkRKVUpCSlRJeUpUSkRKVEl5ZEhsd1pTVXlNaVV6UVNVeU1uTjBjbWx1WnlVeU1pVXlReVV5TW5aaGJIVmxKVEl5SlROQkpUSXlKVEl5SlRKREpUSXlZMkYwWldkdmNua2xNaklsTTBFbE1qSmtaV1poZFd4MEpUSXlKVEpESlRJeWFXUWxNaklsTTBFbE1qSnljSGQ1VW5sRlJFSklPRFk0TmpVNEpUSXlKVGRFSlRKREpUZENKVEl5Ym1GdFpTVXlNaVV6UVNVeU1pVkZOaVU0T0NVNU1DVkZOaVU1UXlWQlF5VXlNaVV5UXlVeU1uUjVjR1VsTWpJbE0wRWxNakp1ZFcxaVpYSWxNaklsTWtNbE1qSjJZV3gxWlNVeU1pVXpRU1V5TWlVeU1pVXlReVV5TW1OaGRHVm5iM0o1SlRJeUpUTkJKVEl5WkdWbVlYVnNkQ1V5TWlVeVF5VXlNbWxrSlRJeUpUTkJKVEl5VEhwaFpFTm9UWHBUUkRZek5UZ3dOQ1V5TWlVM1JDVXlReVUzUWlVeU1tNWhiV1VsTWpJbE0wRWxNaklsUlRZbE9UY2xRallsUlRrbE9UY2xRalFsTWpJbE1rTWxNakowZVhCbEpUSXlKVE5CSlRJeWJuVnRZbVZ5SlRJeUpUSkRKVEl5ZG1Gc2RXVWxNaklsTTBFbE1qSWxNaklsTWtNbE1qSmpZWFJsWjI5eWVTVXlNaVV6UVNVeU1tUmxabUYxYkhRbE1qSWxNa01sTWpKcFpDVXlNaVV6UVNVeU1tNTZaSHBOVUZabFZXRTNNalk1TURNbE1qSWxOMFFsTWtNbE4wSWxNakp1WVcxbEpUSXlKVE5CSlRJeUpVVTVKVGd6SlVFNEpVVTVKVGszSlVFNEpUSXlKVEpESlRJeWRIbHdaU1V5TWlVelFTVXlNbk4wY21sdVp5VXlNaVV5UXlVeU1uWmhiSFZsSlRJeUpUTkJKVEl5SlRJeUpUSkRKVEl5WTJGMFpXZHZjbmtsTWpJbE0wRWxNakprWldaaGRXeDBKVEl5SlRKREpUSXlhV1FsTWpJbE0wRWxNakphYjBablNraENTRWRITWpjek1qUXlKVEl5SlRkRUpUSkRKVGRDSlRJeWJtRnRaU1V5TWlVelFTVXlNaVZGT0NWQ1JTVTVNeVZGTlNVNE5TVkJOU1V5TWlVeVF5VXlNblI1Y0dVbE1qSWxNMEVsTWpKemRISnBibWNsTWpJbE1rTWxNakoyWVd4MVpTVXlNaVV6UVNVeU1pVXlNaVV5UXlVeU1tTmhkR1ZuYjNKNUpUSXlKVE5CSlRJeVpHVm1ZWFZzZENVeU1pVXlReVV5TW1sa0pUSXlKVE5CSlRJeVMwZExhRWxpUjBkbFpEazFPVGMzTmlVeU1pVTNSQ1V5UXlVM1FpVXlNbTVoYldVbE1qSWxNMEVsTWpJbFJUZ2xRa1VsT1RNbFJUVWxPRGNsUWtFbE1qSWxNa01sTWpKMGVYQmxKVEl5SlROQkpUSXljM1J5YVc1bkpUSXlKVEpESlRJeWRtRnNkV1VsTWpJbE0wRWxNaklsTWpJbE1rTWxNakpqWVhSbFoyOXllU1V5TWlVelFTVXlNbVJsWm1GMWJIUWxNaklsTWtNbE1qSnBaQ1V5TWlVelFTVXlNbWQ2YjNWNlkzSkVSMFV5TURRNU1qRWxNaklsTjBRbE1rTWxOMElsTWpKdVlXMWxKVEl5SlROQkpUSXlKVVU1SlVFekpUaEZKVVU1SlRrNUpVRTVKVEl5SlRKREpUSXlkSGx3WlNVeU1pVXpRU1V5TW5OMGNtbHVaeVV5TWlVeVF5VXlNblpoYkhWbEpUSXlKVE5CSlRJeUpUSXlKVEpESlRJeVkyRjBaV2R2Y25rbE1qSWxNMEVsTWpKa1pXWmhkV3gwSlRJeUpUSkRKVEl5YVdRbE1qSWxNMEVsTWpKalRuQnNjbk41Vlc1ak5USTRNVE0xSlRJeUpUZEVKVEpESlRkQ0pUSXlibUZ0WlNVeU1pVXpRU1V5TWlWRk5TVkJOQ1U0TnlWRk5pVkNNeVZCT0NVeU1pVXlReVV5TW5SNWNHVWxNaklsTTBFbE1qSnpkSEpwYm1jbE1qSWxNa01sTWpKMllXeDFaU1V5TWlVelFTVXlNaVV5TWlVeVF5VXlNbU5oZEdWbmIzSjVKVEl5SlROQkpUSXlaR1ZtWVhWc2RDVXlNaVV5UXlVeU1tbGtKVEl5SlROQkpUSXlVR2x0Yms5VmVHMTNSVFUxTXpBeU1TVXlNaVUzUkNVMVJDVXlReVV5TW5CeWIzQnpKVEl5SlROQkpUZENKVEl5ZUNVeU1pVXpRVFUwTUNVeVF5VXlNbmtsTWpJbE0wRXpPVFFsTWtNbE1qSjNKVEl5SlROQk1UazJKVEpESlRJeWFDVXlNaVV6UVRjd0pUSkRKVEl5ZW1sdVpHVjRKVEl5SlROQk5T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a0ZtWm1sc2FXRjBhVzl1SlRJd0pUSkdKVEl3VDNKbllXNXBjMkYwYVc5d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U2tGTWJHeFVVRXBMUWpJMU16TTRNQ1V5TWlVelFTVTNRaVV5TW1sa0pUSXlKVE5CSlRJeVNrRk1iR3hVVUVwTFFqSTFNek00TUNVeU1pVXlReVV5TW01aGJXVWxNaklsTTBFbE1qSndjbTlqWlhOekpUSXlKVEpESlRJeWRHbDBiR1VsTWpJbE0wRWxNaklsUlRZbFFqVWxPREVsUlRjbFFUZ2xPRUlsTWpJbE1rTWxNakpqWVhSbFoyOXllU1V5TWlVelFTVXlNbVpzYjNj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k1XV1JsVFdKRWRVWkNNell6T0RZeUpUSXlKVGRFSlRKREpUZENKVEl5Ym1GdFpTVXlNaVV6UVNVeU1pVkZOU1U1TUNVNFJDVkZOeVZCTnlWQ01DVXlNaVV5UXlVeU1uUjVjR1VsTWpJbE0wRWxNakp6ZEhKcGJtY2xNaklsTWtNbE1qSjJZV3gxWlNVeU1pVXpRU1V5TWlVeU1pVXlReVV5TW1OaGRHVm5iM0o1SlRJeUpUTkJKVEl5WkdWbVlYVnNkQ1V5TWlVeVF5VXlNbWxrSlRJeUpUTkJKVEl5Ums5bGJHdEpXa2hPYmpZME9EZzNOU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tcDBTMlZwYkdsV1RFazBNREEyT1RZbE1qSWxOMFFsTWtNbE4wSWxNakp1WVcxbEpUSXlKVE5CSlRJeUpVVTRKVUpHSlRsRkpVVTJKVGhGSlVFMUpUSXlKVEpESlRJeWRIbHdaU1V5TWlVelFTVXlNbXhwYm1zbE1qSWxNa01sTWpKMllXeDFaU1V5TWlVelFTVXlNaVV5TWlVeVF5VXlNbU5oZEdWbmIzSjVKVEl5SlROQkpUSXlaR1ZtWVhWc2RDVXlNaVV5UXlVeU1tbGtKVEl5SlROQkpUSXlVM0IyZDNKbVQwdHZjakkyTkRrNE9DVXlNaVUzUkNVeVF5VTNRaVV5TW01aGJXVWxNaklsTTBFbE1qSWxSVFFsUWtVbFFrWWxSVGNsUVVNbFFrRWxNaklsTWtNbE1qSjBlWEJsSlRJeUpUTkJKVEl5YzNSeWFXNW5KVEl5SlRKREpUSXlkbUZzZFdVbE1qSWxNMEVsTWpJbE1qSWxNa01sTWpKallYUmxaMjl5ZVNVeU1pVXpRU1V5TW1SbFptRjFiSFFsTWpJbE1rTWxNakpwWkNVeU1pVXpRU1V5TWs5UlJVUjRTMXBQWkhVNE1EY3lNRGtsTWpJbE4wUWxNa01sTjBJbE1qSnVZVzFsSlRJeUpUTkJKVEl5SlVVMkpUZzRKVGt3SlVVMkpUbERKVUZESlRJeUpUSkRKVEl5ZEhsd1pTVXlNaVV6UVNVeU1tNTFiV0psY2lVeU1pVXlReVV5TW5aaGJIVmxKVEl5SlROQkpUSXlKVEl5SlRKREpUSXlZMkYwWldkdmNua2xNaklsTTBFbE1qSmtaV1poZFd4MEpUSXlKVEpESlRJeWFXUWxNaklsTTBFbE1qSnpiMFp3YzFwdWFsQm1OelF3TmprMEpUSXlKVGRFSlRKREpUZENKVEl5Ym1GdFpTVXlNaVV6UVNVeU1pVkZOaVU1TnlWQ05pVkZPU1U1TnlWQ05DVXlNaVV5UXlVeU1uUjVjR1VsTWpJbE0wRWxNakp1ZFcxaVpYSWxNaklsTWtNbE1qSjJZV3gxWlNVeU1pVXpRU1V5TWlVeU1pVXlReVV5TW1OaGRHVm5iM0o1SlRJeUpUTkJKVEl5WkdWbVlYVnNkQ1V5TWlVeVF5VXlNbWxrSlRJeUpUTkJKVEl5WW5SWlRIQmhja3BMZFRBME1UQTFNQ1V5TWlVM1JDVXlReVUzUWlVeU1tNWhiV1VsTWpJbE0wRWxNaklsUlRrbE9ETWxRVGdsUlRrbE9UY2xRVGdsTWpJbE1rTWxNakowZVhCbEpUSXlKVE5CSlRJeWMzUnlhVzVuSlRJeUpUSkRKVEl5ZG1Gc2RXVWxNaklsTTBFbE1qSWxNaklsTWtNbE1qSmpZWFJsWjI5eWVTVXlNaVV6UVNVeU1tUmxabUYxYkhRbE1qSWxNa01sTWpKcFpDVXlNaVV6UVNVeU1rWnNlblYwZVZSR1NsQTVOREV4TWpVbE1qSWxOMFFsTWtNbE4wSWxNakp1WVcxbEpUSXlKVE5CSlRJeUpVVTRKVUpGSlRrekpVVTFKVGcxSlVFMUpUSXlKVEpESlRJeWRIbHdaU1V5TWlVelFTVXlNbk4wY21sdVp5VXlNaVV5UXlVeU1uWmhiSFZsSlRJeUpUTkJKVEl5SlRJeUpUSkRKVEl5WTJGMFpXZHZjbmtsTWpJbE0wRWxNakprWldaaGRXeDBKVEl5SlRKREpUSXlhV1FsTWpJbE0wRWxNakpYYjBkT1NsRjJhVUZPTkRreE5ERTJKVEl5SlRkRUpUSkRKVGRDSlRJeWJtRnRaU1V5TWlVelFTVXlNaVZGT0NWQ1JTVTVNeVZGTlNVNE55VkNRU1V5TWlVeVF5VXlNblI1Y0dVbE1qSWxNMEVsTWpKemRISnBibWNsTWpJbE1rTWxNakoyWVd4MVpTVXlNaVV6UVNVeU1pVXlNaVV5UXlVeU1tTmhkR1ZuYjNKNUpUSXlKVE5CSlRJeVpHVm1ZWFZzZENVeU1pVXlReVV5TW1sa0pUSXlKVE5CSlRJeVIwZHFVME4xVW5kQ2JUazBNVEk1TlNVeU1pVTNSQ1V5UXlVM1FpVXlNbTVoYldVbE1qSWxNMEVsTWpJbFJUa2xRVE1sT0VVbFJUa2xPVGtsUVRrbE1qSWxNa01sTWpKMGVYQmxKVEl5SlROQkpUSXljM1J5YVc1bkpUSXlKVEpESlRJeWRtRnNkV1VsTWpJbE0wRWxNaklsTWpJbE1rTWxNakpqWVhSbFoyOXllU1V5TWlVelFTVXlNbVJsWm1GMWJIUWxNaklsTWtNbE1qSnBaQ1V5TWlVelFTVXlNa2h3Y1hkclVsUjRjMW96TVRjMU9Ua2xNaklsTjBRbE1rTWxOMElsTWpKdVlXMWxKVEl5SlROQkpUSXlKVVUxSlVFMEpUZzNKVVUySlVJekpVRTRKVEl5SlRKREpUSXlkSGx3WlNVeU1pVXpRU1V5TW5OMGNtbHVaeVV5TWlVeVF5VXlNblpoYkhWbEpUSXlKVE5CSlRJeUpUSXlKVEpESlRJeVkyRjBaV2R2Y25rbE1qSWxNMEVsTWpKa1pXWmhkV3gwSlRJeUpUSkRKVEl5YVdRbE1qSWxNMEVsTWpKamRtdExiM2x1UmtONU9UZzFNRGN6SlRJeUpUZEVKVFZFSlRKREpUSXljSEp2Y0hNbE1qSWxNMEVsTjBJbE1qSjRKVEl5SlROQk9ERXdKVEpESlRJeWVTVXlNaVV6UVRNNU5DVXlReVV5TW5jbE1qSWxNMEV4T1RNbE1rTWxNakpvSlRJeUpUTkJOekFsTWtNbE1qSjZhVzVrWlhnbE1qSWxNMEUz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JHOWxjeVV5TUhSb2FYTWxNakJrYjJOMWJXVnVkQ1V5TUdKbFkyOXRaU1V5TUdGdUpUSXdVa1pESlROR0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UkdkdmNVaHRabmw0Y3pjeE9ESTROQ1V5TWlVelFTVTNRaVV5TW1sa0pUSXlKVE5CSlRJeVJHZHZjVWh0Wm5sNGN6Y3hPREk0TkNVeU1pVXlReVV5TW01aGJXVWxNaklsTTBFbE1qSndjbTlqWlhOekpUSXlKVEpESlRJeWRHbDBiR1VsTWpJbE0wRWxNaklsUlRZbFFqVWxPREVsUlRjbFFUZ2xPRUlsTWpJbE1rTWxNakpqWVhSbFoyOXllU1V5TWlVelFTVXlNbVpzYjNj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nVlRWRVZFUxVlFVSjROamt6TnpRMUpUSXlKVGRFSlRKREpUZENKVEl5Ym1GdFpTVXlNaVV6UVNVeU1pVkZOU1U1TUNVNFJDVkZOeVZCTnlWQ01DVXlNaVV5UXlVeU1uUjVjR1VsTWpJbE0wRWxNakp6ZEhKcGJtY2xNaklsTWtNbE1qSjJZV3gxWlNVeU1pVXpRU1V5TWlVeU1pVXlReVV5TW1OaGRHVm5iM0o1SlRJeUpUTkJKVEl5WkdWbVlYVnNkQ1V5TWlVeVF5VXlNbWxrSlRJeUpUTkJKVEl5Ym10SmFFNU5aRnB3U0RFNE5qTTNNa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uWllSM1YxWkhKS1IzVTVOemsxT1RJbE1qSWxOMFFsTWtNbE4wSWxNakp1WVcxbEpUSXlKVE5CSlRJeUpVVTRKVUpHSlRsRkpVVTJKVGhGSlVFMUpUSXlKVEpESlRJeWRIbHdaU1V5TWlVelFTVXlNbXhwYm1zbE1qSWxNa01sTWpKMllXeDFaU1V5TWlVelFTVXlNaVV5TWlVeVF5VXlNbU5oZEdWbmIzSjVKVEl5SlROQkpUSXlaR1ZtWVhWc2RDVXlNaVV5UXlVeU1tbGtKVEl5SlROQkpUSXlVVWx3UmtKUFZXRjZiakV3TlRJek15VXlNaVUzUkNVeVF5VTNRaVV5TW01aGJXVWxNaklsTTBFbE1qSWxSVFFsUWtVbFFrWWxSVGNsUVVNbFFrRWxNaklsTWtNbE1qSjBlWEJsSlRJeUpUTkJKVEl5YzNSeWFXNW5KVEl5SlRKREpUSXlkbUZzZFdVbE1qSWxNMEVsTWpJbE1qSWxNa01sTWpKallYUmxaMjl5ZVNVeU1pVXpRU1V5TW1SbFptRjFiSFFsTWpJbE1rTWxNakpwWkNVeU1pVXpRU1V5TWtOamIwcEZkMFI2U1VJME1ERXdPVElsTWpJbE4wUWxNa01sTjBJbE1qSnVZVzFsSlRJeUpUTkJKVEl5SlVVMkpUZzRKVGt3SlVVMkpUbERKVUZESlRJeUpUSkRKVEl5ZEhsd1pTVXlNaVV6UVNVeU1tNTFiV0psY2lVeU1pVXlReVV5TW5aaGJIVmxKVEl5SlROQkpUSXlKVEl5SlRKREpUSXlZMkYwWldkdmNua2xNaklsTTBFbE1qSmtaV1poZFd4MEpUSXlKVEpESlRJeWFXUWxNaklsTTBFbE1qSmxaVVZGV1hONldHTlpNelUzTXpJMUpUSXlKVGRFSlRKREpUZENKVEl5Ym1GdFpTVXlNaVV6UVNVeU1pVkZOaVU1TnlWQ05pVkZPU1U1TnlWQ05DVXlNaVV5UXlVeU1uUjVjR1VsTWpJbE0wRWxNakp1ZFcxaVpYSWxNaklsTWtNbE1qSjJZV3gxWlNVeU1pVXpRU1V5TWlVeU1pVXlReVV5TW1OaGRHVm5iM0o1SlRJeUpUTkJKVEl5WkdWbVlYVnNkQ1V5TWlVeVF5VXlNbWxrSlRJeUpUTkJKVEl5WWxObVUzQkJRbEZpYmprNU9UWTJOU1V5TWlVM1JDVXlReVUzUWlVeU1tNWhiV1VsTWpJbE0wRWxNaklsUlRrbE9ETWxRVGdsUlRrbE9UY2xRVGdsTWpJbE1rTWxNakowZVhCbEpUSXlKVE5CSlRJeWMzUnlhVzVuSlRJeUpUSkRKVEl5ZG1Gc2RXVWxNaklsTTBFbE1qSWxNaklsTWtNbE1qSmpZWFJsWjI5eWVTVXlNaVV6UVNVeU1tUmxabUYxYkhRbE1qSWxNa01sTWpKcFpDVXlNaVV6UVNVeU1sVjZSSFZyVW5scVUxVTROVFV4TnpnbE1qSWxOMFFsTWtNbE4wSWxNakp1WVcxbEpUSXlKVE5CSlRJeUpVVTRKVUpGSlRrekpVVTFKVGcxSlVFMUpUSXlKVEpESlRJeWRIbHdaU1V5TWlVelFTVXlNbk4wY21sdVp5VXlNaVV5UXlVeU1uWmhiSFZsSlRJeUpUTkJKVEl5SlRJeUpUSkRKVEl5WTJGMFpXZHZjbmtsTWpJbE0wRWxNakprWldaaGRXeDBKVEl5SlRKREpUSXlhV1FsTWpJbE0wRWxNakpLWjBWa1EyaFliRlZyTURrd09UTTBKVEl5SlRkRUpUSkRKVGRDSlRJeWJtRnRaU1V5TWlVelFTVXlNaVZGT0NWQ1JTVTVNeVZGTlNVNE55VkNRU1V5TWlVeVF5VXlNblI1Y0dVbE1qSWxNMEVsTWpKemRISnBibWNsTWpJbE1rTWxNakoyWVd4MVpTVXlNaVV6UVNVeU1pVXlNaVV5UXlVeU1tTmhkR1ZuYjNKNUpUSXlKVE5CSlRJeVpHVm1ZWFZzZENVeU1pVXlReVV5TW1sa0pUSXlKVE5CSlRJeWNuRkRaVWwzZEVsQ2FUVTROelF4TmlVeU1pVTNSQ1V5UXlVM1FpVXlNbTVoYldVbE1qSWxNMEVsTWpJbFJUa2xRVE1sT0VVbFJUa2xPVGtsUVRrbE1qSWxNa01sTWpKMGVYQmxKVEl5SlROQkpUSXljM1J5YVc1bkpUSXlKVEpESlRJeWRtRnNkV1VsTWpJbE0wRWxNaklsTWpJbE1rTWxNakpqWVhSbFoyOXllU1V5TWlVelFTVXlNbVJsWm1GMWJIUWxNaklsTWtNbE1qSnBaQ1V5TWlVelFTVXlNbGhaVTI1M1duZFpiazQzTkRRMU16QWxNaklsTjBRbE1rTWxOMElsTWpKdVlXMWxKVEl5SlROQkpUSXlKVVUxSlVFMEpUZzNKVVUySlVJekpVRTRKVEl5SlRKREpUSXlkSGx3WlNVeU1pVXpRU1V5TW5OMGNtbHVaeVV5TWlVeVF5VXlNblpoYkhWbEpUSXlKVE5CSlRJeUpUSXlKVEpESlRJeVkyRjBaV2R2Y25rbE1qSWxNMEVsTWpKa1pXWmhkV3gwSlRJeUpUSkRKVEl5YVdRbE1qSWxNMEVsTWpKeVRHOTJWbk5uV2tWVk16YzRNVFF4SlRJeUpUZEVKVFZFSlRKREpUSXljSEp2Y0hNbE1qSWxNMEVsTjBJbE1qSjRKVEl5SlROQk1UQTNOeVV5UXlVeU1ua2xNaklsTTBFek9UUWxNa01sTWpKM0pUSXlKVE5CTVRrekpUSkRKVEl5YUNVeU1pVXpRVGN3SlRKREpUSXllbWx1WkdWNEpUSXlKVE5CT1N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rOXlaMkZ1YVhOaGRHbHZiaTFzWlhabGJDVXlNRk4xWTJObGMzTWxNakJTWVhSbE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UVdsd1MyaFhjWGxOY3pnME5EQXpPU1V5TWlVelFTVTNRaVV5TW1sa0pUSXlKVE5CSlRJeVFXbHdTMmhYY1hsTmN6ZzBOREF6T1NVeU1pVXlReVV5TW01aGJXVWxNaklsTTBFbE1qSnNhVzVyWlhJbE1qSWxNa01sTWpKMFpYaDBKVEl5SlROQkpUSXlKVEl5SlRKREpUSXlaM0p2ZFhBbE1qSWxNMEVsTWpJbE1qSWxNa01sTWpKc2FXNXJaWEpVZVhCbEpUSXlKVE5CSlRJeVluSnZhMlZ1SlRJeUpUSkRKVEl5Y0c5cGJuUnpKVEl5SlROQkpUVkNKVGRDSlRJeWVDVXlNaVV6UVRJek5DVXlReVV5TW5rbE1qSWxNMEUwTWprbE4wUWxNa01sTjBJbE1qSjRKVEl5SlROQk1qTTBKVEpESlRJeWVTVXlNaVV6UVRReU9TVTNSQ1UxUkNVeVF5VXlNbXh2WTJ0bFpDVXlNaVV6UVdaaGJITmxKVEpESlRJeVpHRjBZVUYwZEhKcFluVjBaWE1sTWpJbE0wRWxOVUlsTlVRbE1rTWxNakp3Y205d2N5VXlNaVV6UVNVM1FpVXlNbnBwYm1SbGVDVXlNaVV6UVRFd0pUZEVKVEpESlRJeWJHbHVaVk4wZVd4bEpUSXlKVE5CSlRkQ0pUSXliR2x1WlZkcFpIUm9KVEl5SlROQk1TNDFKVGRFSlRKREpUSXlabkp2YlNVeU1pVXpRU1UzUWlVeU1uZ2xNaklsTTBFeE9USWxNa01sTWpKNUpUSXlKVE5CTkRJNUpUSkRKVEl5WVc1bmJHVWxNaklsTTBFekxqRTBNVFU1TWpZMU16VTRPVGM1TXpZbE1rTWxNakpwWkNVeU1pVXpRU1V5TW1odVozVkJlWGxGWjJnMk5qVTVNallsTWpJbE4wUWxNa01sTWpKMGJ5VXlNaVV6UVNVM1FpVXlNbWxrSlRJeUpUTkJKVEl5YTFGM1VrSjBWM04yWlRNNE1UTTBPQ1V5TWlVeVF5VXlNbmdsTWpJbE0wRXlOellsTWtNbE1qSjVKVEl5SlROQk5ESTVKVEpESlRJeVlXNW5iR1VsTWpJbE0wRXdKVGRFSlRKREpUSXlkR1Y0ZEVKc2IyTnJKVEl5SlROQkpUVkNKVFZFSlRkRUpUSkRKVEl5VTFCQ1RFaG5TRWRtUXpFMU5UWXpNaVV5TWlVelFTVTNRaVV5TW1sa0pUSXlKVE5CSlRJeVUxQkNURWhuU0VkbVF6RTFOVFl6TWlVeU1pVXlReVV5TW01aGJXVWxNaklsTTBFbE1qSnNhVzVyWlhJbE1qSWxNa01sTWpKMFpYaDBKVEl5SlROQkpUSXlKVEl5SlRKREpUSXlaM0p2ZFhBbE1qSWxNMEVsTWpJbE1qSWxNa01sTWpKc2FXNXJaWEpVZVhCbEpUSXlKVE5CSlRJeVluSnZhMlZ1SlRJeUpUSkRKVEl5Y0c5cGJuUnpKVEl5SlROQkpUVkNKVGRDSlRJeWVDVXlNaVV6UVRVd015VXlReVV5TW5rbE1qSWxNMEUwTWprbE4wUWxNa01sTjBJbE1qSjRKVEl5SlROQk5UQXpKVEpESlRJeWVTVXlNaVV6UVRReU9TVTNSQ1UxUkNVeVF5VXlNbXh2WTJ0bFpDVXlNaVV6UVdaaGJITmxKVEpESlRJeVpHRjBZVUYwZEhKcFluVjBaWE1sTWpJbE0wRWxOVUlsTlVRbE1rTWxNakp3Y205d2N5VXlNaVV6UVNVM1FpVXlNbnBwYm1SbGVDVXlNaVV6UVRFeEpUZEVKVEpESlRJeWJHbHVaVk4wZVd4bEpUSXlKVE5CSlRkQ0pUSXliR2x1WlZkcFpIUm9KVEl5SlROQk1TNDFKVGRFSlRKREpUSXlabkp2YlNVeU1pVXpRU1UzUWlVeU1uZ2xNaklsTTBFME5qWWxNa01sTWpKNUpUSXlKVE5CTkRJNUpUSkRKVEl5WVc1bmJHVWxNaklsTTBFekxqRTBNVFU1TWpZMU16VTRPVGM1TXpZbE1rTWxNakpwWkNVeU1pVXpRU1V5TW10UmQxSkNkRmR6ZG1Vek9ERXpORGdsTWpJbE4wUWxNa01sTWpKMGJ5VXlNaVV6UVNVM1FpVXlNbWxrSlRJeUpUTkJKVEl5VjJoQlUwMVJSR0Z3VHpFeU56YzNOaVV5TWlVeVF5VXlNbmdsTWpJbE0wRTFOREFsTWtNbE1qSjVKVEl5SlROQk5ESTVKVEpESlRJeVlXNW5iR1VsTWpJbE0wRXdKVGRFSlRKREpUSXlkR1Y0ZEVKc2IyTnJKVEl5SlROQkpUVkNKVFZFSlRkRUpUSkRKVEl5ZDJsV1RXdE1XVkp1VERZek9UZzNNeVV5TWlVelFTVTNRaVV5TW1sa0pUSXlKVE5CSlRJeWQybFdUV3RNV1ZKdVREWXpPVGczTXlVeU1pVXlReVV5TW01aGJXVWxNaklsTTBFbE1qSnNhVzVyWlhJbE1qSWxNa01sTWpKMFpYaDBKVEl5SlROQkpUSXlKVEl5SlRKREpUSXlaM0p2ZFhBbE1qSWxNMEVsTWpJbE1qSWxNa01sTWpKc2FXNXJaWEpVZVhCbEpUSXlKVE5CSlRJeVluSnZhMlZ1SlRJeUpUSkRKVEl5Y0c5cGJuUnpKVEl5SlROQkpUVkNKVGRDSlRJeWVDVXlNaVV6UVRjM015VXlReVV5TW5rbE1qSWxNMEUwTWprbE4wUWxNa01sTjBJbE1qSjRKVEl5SlROQk56Y3pKVEpESlRJeWVTVXlNaVV6UVRReU9TVTNSQ1UxUkNVeVF5VXlNbXh2WTJ0bFpDVXlNaVV6UVdaaGJITmxKVEpESlRJeVpHRjBZVUYwZEhKcFluVjBaWE1sTWpJbE0wRWxOVUlsTlVRbE1rTWxNakp3Y205d2N5VXlNaVV6UVNVM1FpVXlNbnBwYm1SbGVDVXlNaVV6UVRFeUpUZEVKVEpESlRJeWJHbHVaVk4wZVd4bEpUSXlKVE5CSlRkQ0pUSXliR2x1WlZkcFpIUm9KVEl5SlROQk1TNDFKVGRFSlRKREpUSXlabkp2YlNVeU1pVXpRU1UzUWlVeU1uZ2xNaklsTTBFM016WWxNa01sTWpKNUpUSXlKVE5CTkRJNUpUSkRKVEl5WVc1bmJHVWxNaklsTTBFekxqRTBNVFU1TWpZMU16VTRPVGM1TXpZbE1rTWxNakpwWkNVeU1pVXpRU1V5TWxkb1FWTk5VVVJoY0U4eE1qYzNOellsTWpJbE4wUWxNa01sTWpKMGJ5VXlNaVV6UVNVM1FpVXlNbWxrSlRJeUpUTkJKVEl5U2tGTWJHeFVVRXBMUWpJMU16TTRNQ1V5TWlVeVF5VXlNbmdsTWpJbE0wRTRNVEFsTWtNbE1qSjVKVEl5SlROQk5ESTVKVEpESlRJeVlXNW5iR1VsTWpJbE0wRXdKVGRFSlRKREpUSXlkR1Y0ZEVKc2IyTnJKVEl5SlROQkpUVkNKVFZFSlRkRUpUSkRKVEl5Wld4NmQwcEpkRWxtY3prMk16VXdNeVV5TWlVelFTVTNRaVV5TW1sa0pUSXlKVE5CSlRJeVpXeDZkMHBKZEVsbWN6azJNelV3TXlVeU1pVXlReVV5TW01aGJXVWxNaklsTTBFbE1qSnNhVzVyWlhJbE1qSWxNa01sTWpKMFpYaDBKVEl5SlROQkpUSXlKVEl5SlRKREpUSXlaM0p2ZFhBbE1qSWxNMEVsTWpJbE1qSWxNa01sTWpKc2FXNXJaWEpVZVhCbEpUSXlKVE5CSlRJeVluSnZhMlZ1SlRJeUpUSkRKVEl5Y0c5cGJuUnpKVEl5SlROQkpUVkNKVGRDSlRJeWVDVXlNaVV6UVRFd05EQWxNa01sTWpKNUpUSXlKVE5CTkRJNUpUZEVKVEpESlRkQ0pUSXllQ1V5TWlVelFURXdOREFsTWtNbE1qSjVKVEl5SlROQk5ESTVKVGRFSlRWRUpUSkRKVEl5Ykc5amEyVmtKVEl5SlROQlptRnNjMlVsTWtNbE1qSmtZWFJoUVhSMGNtbGlkWFJsY3lVeU1pVXpRU1UxUWlVMVJDVXlReVV5TW5CeWIzQnpKVEl5SlROQkpUZENKVEl5ZW1sdVpHVjRKVEl5SlROQk1UTWxOMFFsTWtNbE1qSnNhVzVsVTNSNWJHVWxNaklsTTBFbE4wSWxNakpzYVc1bFYybGtkR2dsTWpJbE0wRXhMalVsTjBRbE1rTWxNakptY205dEpUSXlKVE5CSlRkQ0pUSXllQ1V5TWlVelFURXdNRE1sTWtNbE1qSjVKVEl5SlROQk5ESTVKVEpESlRJeVlXNW5iR1VsTWpJbE0wRXpMakUwTVRVNU1qWTFNelU0T1RjNU16WWxNa01sTWpKcFpDVXlNaVV6UVNVeU1rcEJUR3hzVkZCS1MwSXlOVE16T0RBbE1qSWxOMFFsTWtNbE1qSjBieVV5TWlVelFTVTNRaVV5TW1sa0pUSXlKVE5CSlRJeVJHZHZjVWh0Wm5sNGN6Y3hPREk0TkNVeU1pVXlReVV5TW5nbE1qSWxNMEV4TURjM0pUSkRKVEl5ZVNVeU1pVXpRVFF5T1NVeVF5VXlNbUZ1WjJ4bEpUSXlKVE5CTUNVM1JDVXlReVV5TW5SbGVIUkNiRzlqYXlVeU1pVXpRU1UxUWlVMVJDVTNSQ1UzUkNVeVF5VXlNbU52YlcxbGJuUnpKVEl5SlROQkpUVkNKVFZFSlRKREpUSXljR3gxWjJsdWN5VXlNaVV6UVNVM1FpVTNSQ1V5UXlVeU1tRnBRMjl1ZEdGcGJtVnljeVV5TWlVelFTVTNRaVUzUkNVeVF5VXlNbWx1YzJWeWRGQmhaMlZQY0hSekpUSXlKVE5CSlRkQ0pUZEVKVEpESlRJeWNHOXpkRkJoZVcxbGJuUWxNaklsTTBFbE4wSWxOMFFsTWtNbE1qSjBhR1Z0WlNVeU1pVXpRU1UzUWlVeU1uQmhaMlVsTWpJbE0wRWxOMElsTWpKaVlXTnJaM0p2ZFc1a1EyOXNiM0lsTWpJbE0wRWxNakowY21GdWMzQmhjbVZ1ZENVeU1pVTNSQ1UzUkNVM1JBPT0iLAoJIkZpbGVJZCIgOiAiOWE0NTIyYzAtZWYwNC00NTU5LTgxZTAtMGU1YTU3NjkyMjMxIgp9Cg=="/>
    </extobj>
  </extobjs>
</s:customData>
</file>

<file path=customXml/itemProps14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5471</Words>
  <Application>WPS 演示</Application>
  <PresentationFormat>宽屏</PresentationFormat>
  <Paragraphs>241</Paragraphs>
  <Slides>27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Arial</vt:lpstr>
      <vt:lpstr>宋体</vt:lpstr>
      <vt:lpstr>Wingdings</vt:lpstr>
      <vt:lpstr>Wingdings</vt:lpstr>
      <vt:lpstr>微软雅黑</vt:lpstr>
      <vt:lpstr>Arial Unicode MS</vt:lpstr>
      <vt:lpstr>Calibri</vt:lpstr>
      <vt:lpstr>WPS</vt:lpstr>
      <vt:lpstr> Who is Effective at Developing Internet Standards?</vt:lpstr>
      <vt:lpstr>Aim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IETF</vt:lpstr>
      <vt:lpstr>Draft、RFC</vt:lpstr>
      <vt:lpstr>这和 Huawei / Cisco / Google 有什么关系？</vt:lpstr>
      <vt:lpstr>Task</vt:lpstr>
      <vt:lpstr>一、谁参与了标准制定</vt:lpstr>
      <vt:lpstr>二、谁真正做出了贡献（真正影响RFC的人是谁）</vt:lpstr>
      <vt:lpstr>三、公司之间如何合作</vt:lpstr>
      <vt:lpstr>四、国家影响力变化</vt:lpstr>
      <vt:lpstr>真正的问题：新公司怎样才能进入IETF</vt:lpstr>
      <vt:lpstr>Social Graph（社交网络图）</vt:lpstr>
      <vt:lpstr> Betweenness Centrality（中介中心性） 。</vt:lpstr>
      <vt:lpstr>untimate goal</vt:lpstr>
      <vt:lpstr>PowerPoint 演示文稿</vt:lpstr>
      <vt:lpstr>my idea</vt:lpstr>
      <vt:lpstr>最后形成两类分析：</vt:lpstr>
      <vt:lpstr>idea in web-we-weave</vt:lpstr>
      <vt:lpstr>Result</vt:lpstr>
      <vt:lpstr>question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沵算what*</cp:lastModifiedBy>
  <cp:revision>168</cp:revision>
  <dcterms:created xsi:type="dcterms:W3CDTF">2019-06-19T02:08:00Z</dcterms:created>
  <dcterms:modified xsi:type="dcterms:W3CDTF">2026-07-07T19:47:36Z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3FA43FBEBC75449287A98214CC861249_11</vt:lpwstr>
  </property>
</Properties>
</file>